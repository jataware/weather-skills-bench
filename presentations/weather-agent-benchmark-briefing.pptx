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Model / API</c:v>
                </c:pt>
              </c:strCache>
            </c:strRef>
          </c:tx>
          <c:spPr>
            <a:solidFill>
              <a:srgbClr val="2057A5"/>
            </a:solidFill>
            <a:ln>
              <a:noFill/>
            </a:ln>
          </c:spPr>
          <c:cat>
            <c:strRef>
              <c:f>Sheet1!$A$2:$A$2</c:f>
              <c:strCache>
                <c:ptCount val="1"/>
                <c:pt idx="0">
                  <c:v>Recorded time</c:v>
                </c:pt>
              </c:strCache>
            </c:strRef>
          </c:cat>
          <c:val>
            <c:numRef>
              <c:f>Sheet1!$B$2:$B$2</c:f>
              <c:numCache>
                <c:formatCode>General</c:formatCode>
                <c:ptCount val="1"/>
                <c:pt idx="0">
                  <c:v>92.74470244704116</c:v>
                </c:pt>
              </c:numCache>
            </c:numRef>
          </c:val>
        </c:ser>
        <c:ser>
          <c:idx val="1"/>
          <c:order val="1"/>
          <c:tx>
            <c:strRef>
              <c:f>Sheet1!$C$1</c:f>
              <c:strCache>
                <c:ptCount val="1"/>
                <c:pt idx="0">
                  <c:v>Execution</c:v>
                </c:pt>
              </c:strCache>
            </c:strRef>
          </c:tx>
          <c:spPr>
            <a:solidFill>
              <a:srgbClr val="777777"/>
            </a:solidFill>
            <a:ln>
              <a:noFill/>
            </a:ln>
          </c:spPr>
          <c:cat>
            <c:strRef>
              <c:f>Sheet1!$A$2:$A$2</c:f>
              <c:strCache>
                <c:ptCount val="1"/>
                <c:pt idx="0">
                  <c:v>Recorded time</c:v>
                </c:pt>
              </c:strCache>
            </c:strRef>
          </c:cat>
          <c:val>
            <c:numRef>
              <c:f>Sheet1!$C$2:$C$2</c:f>
              <c:numCache>
                <c:formatCode>General</c:formatCode>
                <c:ptCount val="1"/>
                <c:pt idx="0">
                  <c:v>7.002174643181529</c:v>
                </c:pt>
              </c:numCache>
            </c:numRef>
          </c:val>
        </c:ser>
        <c:ser>
          <c:idx val="2"/>
          <c:order val="2"/>
          <c:tx>
            <c:strRef>
              <c:f>Sheet1!$D$1</c:f>
              <c:strCache>
                <c:ptCount val="1"/>
                <c:pt idx="0">
                  <c:v>Other</c:v>
                </c:pt>
              </c:strCache>
            </c:strRef>
          </c:tx>
          <c:spPr>
            <a:solidFill>
              <a:srgbClr val="DDDDDD"/>
            </a:solidFill>
            <a:ln>
              <a:noFill/>
            </a:ln>
          </c:spPr>
          <c:cat>
            <c:strRef>
              <c:f>Sheet1!$A$2:$A$2</c:f>
              <c:strCache>
                <c:ptCount val="1"/>
                <c:pt idx="0">
                  <c:v>Recorded time</c:v>
                </c:pt>
              </c:strCache>
            </c:strRef>
          </c:cat>
          <c:val>
            <c:numRef>
              <c:f>Sheet1!$D$2:$D$2</c:f>
              <c:numCache>
                <c:formatCode>General</c:formatCode>
                <c:ptCount val="1"/>
                <c:pt idx="0">
                  <c:v>0.25312290977730695</c:v>
                </c:pt>
              </c:numCache>
            </c:numRef>
          </c:val>
        </c:ser>
        <c:gapWidth val="30"/>
        <c:overlap val="100"/>
        <c:axId val="-2068027336"/>
        <c:axId val="-2113994440"/>
      </c:barChart>
      <c:catAx>
        <c:axId val="-2068027336"/>
        <c:scaling>
          <c:orientation val="minMax"/>
        </c:scaling>
        <c:delete/>
        <c:axPos val="l"/>
        <c:majorTickMark val="out"/>
        <c:minorTickMark val="none"/>
        <c:tickLblPos val="nextTo"/>
        <c:crossAx val="-2113994440"/>
        <c:crosses val="autoZero"/>
        <c:auto val="1"/>
        <c:lblAlgn val="ctr"/>
        <c:lblOffset val="100"/>
        <c:noMultiLvlLbl val="0"/>
      </c:catAx>
      <c:valAx>
        <c:axId val="-2113994440"/>
        <c:scaling>
          <c:max val="100.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aim is an empirical comparison, not a presumption that reusable code always wins. BCSD means bias correction and spatial disaggregation. The user-facing library names are retained here; local documentation also uses Rosetta/deepscale aliases. The current pilot is not yet a direct test of acmadDL or africaS2S.</a:t>
            </a:r>
          </a:p>
          <a:p/>
          <a:p>
            <a:r>
              <a:t>Sources / audit trail:</a:t>
            </a:r>
          </a:p>
          <a:p>
            <a:r>
              <a:t>User-provided project context</a:t>
            </a:r>
          </a:p>
          <a:p>
            <a:r>
              <a:t>../../accord/acmadDL/skills/acmaddl/SKILL.md</a:t>
            </a:r>
          </a:p>
          <a:p>
            <a:r>
              <a:t>../../accord/africas2s/skills/africas2s/SKILL.md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library skills are readme-like guides with deeper references loaded when needed. They teach units, dimensions, API use, and statistical discipline. Numerical implementations are maintained in the libraries; generated Python handles composition and exceptions. weather-skills also has guides: this is a distinction in the execution interface, not a claim that its guidance is absent. The hypothesis that general code execution improves recovery remains to be evaluated quantitatively.</a:t>
            </a:r>
          </a:p>
          <a:p/>
          <a:p>
            <a:r>
              <a:t>Sources / audit trail:</a:t>
            </a:r>
          </a:p>
          <a:p>
            <a:r>
              <a:t>weather-skills-catalog skill scripts and guides</a:t>
            </a:r>
          </a:p>
          <a:p>
            <a:r>
              <a:t>../../accord/acmadDL/skills/acmaddl/SKILL.md</a:t>
            </a:r>
          </a:p>
          <a:p>
            <a:r>
              <a:t>../../accord/africas2s/skills/africas2s/SKILL.md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models: Claude Fable 5.1, Claude Sonnet 5.5, Gemini 3.1 Flash-Lite, DeepSeek V4.1 Flash, Qwen3.5 9B, Ministral 3B, Llama 3.2 1B, Llama 3.2 3B, Qwen2.5 7B, Llama 3.1 8B. DeepSeek is a large open-weight model; the 1B–9B statement describes the smaller tier, not every open model. All arms receive execution feedback and may retry. No one-shot baseline is included. Skills are available, not mandatory, in Python + skills; invocation is measured. Llama 1B/3B endpoints lack API-enforced JSON mode but receive the same action instructions and parsing. Astra exclusion reduces an authoring conflict; it does not eliminate all design bias. Current comparisons concern weather-skills, not the two project libraries.</a:t>
            </a:r>
          </a:p>
          <a:p/>
          <a:p>
            <a:r>
              <a:t>Sources / audit trail:</a:t>
            </a:r>
          </a:p>
          <a:p>
            <a:r>
              <a:t>configs/refined-heat-panel-v4.json</a:t>
            </a:r>
          </a:p>
          <a:p>
            <a:r>
              <a:t>configs/refined-heat-small-v4.json</a:t>
            </a:r>
          </a:p>
          <a:p>
            <a:r>
              <a:t>METHODOLOGY.md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task uses real, unmodified archived forecast bytes, not synthetic weather observations. Week 1 covers September 28–October 4; week 2 October 5–11. The service rectangle is not a Kenya polygon. All perturbed members and the control receive equal member weights. The quantity is daily 2 m temperature, not a daily-maximum-temperature variable. Numerical tolerance is abs=1e-4, rel=1e-6, with exact schema, dates/lead values, units, and source citation. The oracle uses an independent Python calculation; actual catalog workflows are also validated. A valid nonblank PNG is required, but chart semantics and aesthetics are not fully automatically graded. Workflow conformance is separate from answer correctness.</a:t>
            </a:r>
          </a:p>
          <a:p/>
          <a:p>
            <a:r>
              <a:t>Sources / audit trail:</a:t>
            </a:r>
          </a:p>
          <a:p>
            <a:r>
              <a:t>cases/e2e-kenya-heat-cached-v3.json</a:t>
            </a:r>
          </a:p>
          <a:p>
            <a:r>
              <a:t>scripts/validate_refined.py</a:t>
            </a:r>
          </a:p>
          <a:p>
            <a:r>
              <a:t>results/refined-reference-v4.json</a:t>
            </a:r>
          </a:p>
          <a:p>
            <a:r>
              <a:t>https://storage.googleapis.com/kenya-forecasting-data/2026-09-27/data/ECMWF_s2s_daily_vars_2026-09-27.zarr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warm-data benchmark. Download and environment setup are excluded from solve time; this improves repeatability and removes network transfer as a confound. The experiment does not measure live acquisition reliability or cold-start latency. Every run remains isolated. The raw cache does not contain transformed answers. Successful identical skill calls reuse artifacts only within the same run and only if inputs and outputs remain unchanged; cache hits are traced. Python agents can keep their own intermediate files. The repaired v4 catalog pins additional temperature/rolling/median fixes. Task IDs retain v3 naming, but protocol_version is cached-heat-v4. A full live-acquisition benchmark is a separate next-stage measurement.</a:t>
            </a:r>
          </a:p>
          <a:p/>
          <a:p>
            <a:r>
              <a:t>Sources / audit trail:</a:t>
            </a:r>
          </a:p>
          <a:p>
            <a:r>
              <a:t>weather_bench/refined.py</a:t>
            </a:r>
          </a:p>
          <a:p>
            <a:r>
              <a:t>weather_bench/execution_cache.py</a:t>
            </a:r>
          </a:p>
          <a:p>
            <a:r>
              <a:t>configs/refined-heat-panel-v4.json</a:t>
            </a:r>
          </a:p>
          <a:p>
            <a:r>
              <a:t>results/refined-reference-v4.json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timing chart is native PowerPoint and uses summed run timing, not an unweighted mean of percentages. Snapshot 2026-09-30 16:21 UTC; 7 recorded of 30 planned. Model/API time 837.634s; execution 63.241s; solve 903.161s. Provider queueing, inference, network response time and request failures are not separately identifiable in this aggregate. Default capability charts exclude terminal provider errors; operational results and reported spending retain them. Task timeouts and malformed responses remain task outcomes. Cost per successful task must include the stated attempt population and flag incomplete billing. Total tokens include repeated context and provider-cached input. Exact McNemar comparisons and Wilson intervals are available, but one task and one repetition do not support broad significance or a model ranking. Benchmark sampling and repetitions are still needed.</a:t>
            </a:r>
          </a:p>
          <a:p/>
          <a:p>
            <a:r>
              <a:t>Sources / audit trail:</a:t>
            </a:r>
          </a:p>
          <a:p>
            <a:r>
              <a:t>presentations/assets/study-snapshot.json</a:t>
            </a:r>
          </a:p>
          <a:p>
            <a:r>
              <a:t>weather_bench/report.py</a:t>
            </a:r>
          </a:p>
          <a:p>
            <a:r>
              <a:t>STATISTICS.md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Actual dashboard screenshot, frozen at 2026-09-30 16:21 UTC. Selected model is Claude Fable 5.1 and chart metric is completion time. This is an interface demonstration from a partially completed study, not a claim about relative model performance. Missing attempts remain pending. Image captures genuine DOM content and original series colors. All surrounding slide elements are native PowerPoint.</a:t>
            </a:r>
          </a:p>
          <a:p/>
          <a:p>
            <a:r>
              <a:t>Sources / audit trail:</a:t>
            </a:r>
          </a:p>
          <a:p>
            <a:r>
              <a:t>docs/index.html</a:t>
            </a:r>
          </a:p>
          <a:p>
            <a:r>
              <a:t>presentations/assets/screenshot-provenance.json</a:t>
            </a:r>
          </a:p>
          <a:p>
            <a:r>
              <a:t>presentations/assets/dashboard-comparison.png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Actual run-detail drawer for run 95fdd288dfc945299b383fb23bf50f48, with Model calls selected. The dashboard also supports execution traces and answer/grade inspection. Logs are sanitized; they exclude credentials and hidden reasoning. Reading a guide and invoking a skill are separately recorded. Correct alternative Python implementations may fail reference-recipe conformance but still pass scientific correctness. The screenshot is an audit example, not a sample chosen for aggregate inference.</a:t>
            </a:r>
          </a:p>
          <a:p/>
          <a:p>
            <a:r>
              <a:t>Sources / audit trail:</a:t>
            </a:r>
          </a:p>
          <a:p>
            <a:r>
              <a:t>presentations/assets/screenshot-provenance.json</a:t>
            </a:r>
          </a:p>
          <a:p>
            <a:r>
              <a:t>presentations/assets/dashboard-trace.png</a:t>
            </a:r>
          </a:p>
          <a:p>
            <a:r>
              <a:t>weather_bench/report.py: public_audit</a:t>
            </a:r>
          </a:p>
          <a:p>
            <a:r>
              <a:t>docs/app.js: showRun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proposed ablation is not implemented or run in the current study. Keep Python execution and recovery available in all three conditions. For the library-only arm, provide ordinary API documentation rather than withholding basic usability information; the skills arm adds workflow guidance and progressive disclosure. Fix candidate methods and evaluation folds or use properly nested selection to avoid optimistic verification. Reference checks should combine independently computed quantities, cross-implementation agreement, and invariants rather than grade a library exclusively against itself. Separate agent task correctness from meteorological predictive skill. Forecast skill needs held-out years, no calibration/tercile leakage, common masks, and prespecified metrics such as RPSS, reliability, or RMSE as appropriate. Include representative missing data, calendar differences, grids, and recoverable source errors. Report warm-data solve time and cold acquisition/setup separately. The decision is empirical: which configuration meets accuracy requirements at the lowest cost and latency, without assuming skills must win.</a:t>
            </a:r>
          </a:p>
          <a:p/>
          <a:p>
            <a:r>
              <a:t>Sources / audit trail:</a:t>
            </a:r>
          </a:p>
          <a:p>
            <a:r>
              <a:t>User-provided project objective</a:t>
            </a:r>
          </a:p>
          <a:p>
            <a:r>
              <a:t>../../accord/acmadDL/skills/acmaddl/SKILL.md</a:t>
            </a:r>
          </a:p>
          <a:p>
            <a:r>
              <a:t>../../accord/africas2s/skills/africas2s/SKILL.md</a:t>
            </a:r>
          </a:p>
          <a:p>
            <a:r>
              <a:t>METHODOLOGY.md</a:t>
            </a:r>
          </a:p>
          <a:p>
            <a:r>
              <a:t>STATISTICS.md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274320"/>
            <a:ext cx="10058400" cy="201168"/>
          </a:xfrm>
          <a:prstGeom prst="rect">
            <a:avLst/>
          </a:prstGeom>
          <a:noFill/>
        </p:spPr>
        <p:txBody>
          <a:bodyPr wrap="square" lIns="0" rIns="0" tIns="0" bIns="0">
            <a:spAutoFit/>
          </a:bodyPr>
          <a:lstStyle/>
          <a:p>
            <a:pPr>
              <a:spcAft>
                <a:spcPts val="200"/>
              </a:spcAft>
              <a:defRPr sz="1000" b="1">
                <a:solidFill>
                  <a:srgbClr val="666666"/>
                </a:solidFill>
                <a:latin typeface="Arial"/>
              </a:defRPr>
            </a:pPr>
            <a:r>
              <a:t>WEATHER AGENT BENCHMARK</a:t>
            </a:r>
          </a:p>
        </p:txBody>
      </p:sp>
      <p:sp>
        <p:nvSpPr>
          <p:cNvPr id="3" name="TextBox 2"/>
          <p:cNvSpPr txBox="1"/>
          <p:nvPr/>
        </p:nvSpPr>
        <p:spPr>
          <a:xfrm>
            <a:off x="530352" y="740664"/>
            <a:ext cx="11064240" cy="749808"/>
          </a:xfrm>
          <a:prstGeom prst="rect">
            <a:avLst/>
          </a:prstGeom>
          <a:noFill/>
        </p:spPr>
        <p:txBody>
          <a:bodyPr wrap="square" lIns="0" rIns="0" tIns="0" bIns="0">
            <a:spAutoFit/>
          </a:bodyPr>
          <a:lstStyle/>
          <a:p>
            <a:pPr>
              <a:spcAft>
                <a:spcPts val="200"/>
              </a:spcAft>
              <a:defRPr sz="3000" b="1">
                <a:solidFill>
                  <a:srgbClr val="111111"/>
                </a:solidFill>
                <a:latin typeface="Arial"/>
              </a:defRPr>
            </a:pPr>
            <a:r>
              <a:t>Benchmarking agents for weather forecasting</a:t>
            </a:r>
          </a:p>
        </p:txBody>
      </p:sp>
      <p:cxnSp>
        <p:nvCxnSpPr>
          <p:cNvPr id="4" name="Connector 3"/>
          <p:cNvCxnSpPr/>
          <p:nvPr/>
        </p:nvCxnSpPr>
        <p:spPr>
          <a:xfrm>
            <a:off x="530352" y="6382512"/>
            <a:ext cx="11128248" cy="0"/>
          </a:xfrm>
          <a:prstGeom prst="line">
            <a:avLst/>
          </a:prstGeom>
          <a:ln w="12700">
            <a:solidFill>
              <a:srgbClr val="D1D1D1"/>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0352" y="6492240"/>
            <a:ext cx="10424160" cy="182880"/>
          </a:xfrm>
          <a:prstGeom prst="rect">
            <a:avLst/>
          </a:prstGeom>
          <a:noFill/>
        </p:spPr>
        <p:txBody>
          <a:bodyPr wrap="square" lIns="0" rIns="0" tIns="0" bIns="0">
            <a:spAutoFit/>
          </a:bodyPr>
          <a:lstStyle/>
          <a:p>
            <a:pPr>
              <a:spcAft>
                <a:spcPts val="200"/>
              </a:spcAft>
              <a:defRPr sz="1000" b="0">
                <a:solidFill>
                  <a:srgbClr val="666666"/>
                </a:solidFill>
                <a:latin typeface="Arial"/>
              </a:defRPr>
            </a:pPr>
            <a:r>
              <a:t>Weather Skills Benchmark  /  Research design and current pilot</a:t>
            </a:r>
          </a:p>
        </p:txBody>
      </p:sp>
      <p:sp>
        <p:nvSpPr>
          <p:cNvPr id="6" name="TextBox 5"/>
          <p:cNvSpPr txBox="1"/>
          <p:nvPr/>
        </p:nvSpPr>
        <p:spPr>
          <a:xfrm>
            <a:off x="11155680" y="6473952"/>
            <a:ext cx="502920" cy="210312"/>
          </a:xfrm>
          <a:prstGeom prst="rect">
            <a:avLst/>
          </a:prstGeom>
          <a:noFill/>
        </p:spPr>
        <p:txBody>
          <a:bodyPr wrap="square" lIns="0" rIns="0" tIns="0" bIns="0">
            <a:spAutoFit/>
          </a:bodyPr>
          <a:lstStyle/>
          <a:p>
            <a:pPr algn="r">
              <a:spcAft>
                <a:spcPts val="200"/>
              </a:spcAft>
              <a:defRPr sz="1000" b="0">
                <a:solidFill>
                  <a:srgbClr val="666666"/>
                </a:solidFill>
                <a:latin typeface="Arial"/>
              </a:defRPr>
            </a:pPr>
            <a:r>
              <a:t>01</a:t>
            </a:r>
          </a:p>
        </p:txBody>
      </p:sp>
      <p:sp>
        <p:nvSpPr>
          <p:cNvPr id="7" name="TextBox 6"/>
          <p:cNvSpPr txBox="1"/>
          <p:nvPr/>
        </p:nvSpPr>
        <p:spPr>
          <a:xfrm>
            <a:off x="548640" y="1600200"/>
            <a:ext cx="10881360" cy="822960"/>
          </a:xfrm>
          <a:prstGeom prst="rect">
            <a:avLst/>
          </a:prstGeom>
          <a:noFill/>
        </p:spPr>
        <p:txBody>
          <a:bodyPr wrap="square" lIns="0" rIns="0" tIns="0" bIns="0">
            <a:spAutoFit/>
          </a:bodyPr>
          <a:lstStyle/>
          <a:p>
            <a:pPr>
              <a:spcAft>
                <a:spcPts val="200"/>
              </a:spcAft>
              <a:defRPr sz="2500" b="0">
                <a:solidFill>
                  <a:srgbClr val="111111"/>
                </a:solidFill>
                <a:latin typeface="Arial"/>
              </a:defRPr>
            </a:pPr>
            <a:r>
              <a:t>Which combination of model, libraries, and agent guidance delivers correct forecasts with the least time, tokens, and cost?</a:t>
            </a:r>
          </a:p>
        </p:txBody>
      </p:sp>
      <p:sp>
        <p:nvSpPr>
          <p:cNvPr id="8" name="Rectangle 7"/>
          <p:cNvSpPr/>
          <p:nvPr/>
        </p:nvSpPr>
        <p:spPr>
          <a:xfrm>
            <a:off x="566928" y="2880360"/>
            <a:ext cx="3383280" cy="1920240"/>
          </a:xfrm>
          <a:prstGeom prst="rect">
            <a:avLst/>
          </a:prstGeom>
          <a:solidFill>
            <a:srgbClr val="FFFFFF"/>
          </a:solidFill>
          <a:ln w="1270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31520" y="3017520"/>
            <a:ext cx="3054096" cy="393192"/>
          </a:xfrm>
          <a:prstGeom prst="rect">
            <a:avLst/>
          </a:prstGeom>
          <a:noFill/>
        </p:spPr>
        <p:txBody>
          <a:bodyPr wrap="square" lIns="0" rIns="0" tIns="0" bIns="0">
            <a:spAutoFit/>
          </a:bodyPr>
          <a:lstStyle/>
          <a:p>
            <a:pPr>
              <a:spcAft>
                <a:spcPts val="200"/>
              </a:spcAft>
              <a:defRPr sz="1800" b="1">
                <a:solidFill>
                  <a:srgbClr val="111111"/>
                </a:solidFill>
                <a:latin typeface="Arial"/>
              </a:defRPr>
            </a:pPr>
            <a:r>
              <a:t>acmadDL</a:t>
            </a:r>
          </a:p>
        </p:txBody>
      </p:sp>
      <p:sp>
        <p:nvSpPr>
          <p:cNvPr id="10" name="TextBox 9"/>
          <p:cNvSpPr txBox="1"/>
          <p:nvPr/>
        </p:nvSpPr>
        <p:spPr>
          <a:xfrm>
            <a:off x="731520" y="3474720"/>
            <a:ext cx="3054096" cy="1234440"/>
          </a:xfrm>
          <a:prstGeom prst="rect">
            <a:avLst/>
          </a:prstGeom>
          <a:noFill/>
        </p:spPr>
        <p:txBody>
          <a:bodyPr wrap="square" lIns="0" rIns="0" tIns="0" bIns="0">
            <a:spAutoFit/>
          </a:bodyPr>
          <a:lstStyle/>
          <a:p>
            <a:pPr>
              <a:spcAft>
                <a:spcPts val="200"/>
              </a:spcAft>
              <a:defRPr sz="1700" b="0">
                <a:solidFill>
                  <a:srgbClr val="111111"/>
                </a:solidFill>
                <a:latin typeface="Arial"/>
              </a:defRPr>
            </a:pPr>
            <a:r>
              <a:t>Fetch and normalize weather / climate data.</a:t>
            </a:r>
          </a:p>
          <a:p>
            <a:pPr>
              <a:spcAft>
                <a:spcPts val="200"/>
              </a:spcAft>
              <a:defRPr sz="1700" b="0">
                <a:solidFill>
                  <a:srgbClr val="111111"/>
                </a:solidFill>
                <a:latin typeface="Arial"/>
              </a:defRPr>
            </a:pPr>
            <a:r>
              <a:t>Return consistent xarray datasets.</a:t>
            </a:r>
          </a:p>
        </p:txBody>
      </p:sp>
      <p:sp>
        <p:nvSpPr>
          <p:cNvPr id="11" name="Right Arrow 10"/>
          <p:cNvSpPr/>
          <p:nvPr/>
        </p:nvSpPr>
        <p:spPr>
          <a:xfrm>
            <a:off x="4096512" y="3730752"/>
            <a:ext cx="393192" cy="182880"/>
          </a:xfrm>
          <a:prstGeom prst="rightArrow">
            <a:avLst/>
          </a:prstGeom>
          <a:solidFill>
            <a:srgbClr val="11111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45152" y="2880360"/>
            <a:ext cx="3685032" cy="1920240"/>
          </a:xfrm>
          <a:prstGeom prst="rect">
            <a:avLst/>
          </a:prstGeom>
          <a:solidFill>
            <a:srgbClr val="FFFFFF"/>
          </a:solidFill>
          <a:ln w="1270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809744" y="3017520"/>
            <a:ext cx="3355848" cy="393192"/>
          </a:xfrm>
          <a:prstGeom prst="rect">
            <a:avLst/>
          </a:prstGeom>
          <a:noFill/>
        </p:spPr>
        <p:txBody>
          <a:bodyPr wrap="square" lIns="0" rIns="0" tIns="0" bIns="0">
            <a:spAutoFit/>
          </a:bodyPr>
          <a:lstStyle/>
          <a:p>
            <a:pPr>
              <a:spcAft>
                <a:spcPts val="200"/>
              </a:spcAft>
              <a:defRPr sz="1800" b="1">
                <a:solidFill>
                  <a:srgbClr val="111111"/>
                </a:solidFill>
                <a:latin typeface="Arial"/>
              </a:defRPr>
            </a:pPr>
            <a:r>
              <a:t>africaS2S</a:t>
            </a:r>
          </a:p>
        </p:txBody>
      </p:sp>
      <p:sp>
        <p:nvSpPr>
          <p:cNvPr id="14" name="TextBox 13"/>
          <p:cNvSpPr txBox="1"/>
          <p:nvPr/>
        </p:nvSpPr>
        <p:spPr>
          <a:xfrm>
            <a:off x="4809744" y="3474720"/>
            <a:ext cx="3355848" cy="1234440"/>
          </a:xfrm>
          <a:prstGeom prst="rect">
            <a:avLst/>
          </a:prstGeom>
          <a:noFill/>
        </p:spPr>
        <p:txBody>
          <a:bodyPr wrap="square" lIns="0" rIns="0" tIns="0" bIns="0">
            <a:spAutoFit/>
          </a:bodyPr>
          <a:lstStyle/>
          <a:p>
            <a:pPr>
              <a:spcAft>
                <a:spcPts val="200"/>
              </a:spcAft>
              <a:defRPr sz="1700" b="0">
                <a:solidFill>
                  <a:srgbClr val="111111"/>
                </a:solidFill>
                <a:latin typeface="Arial"/>
              </a:defRPr>
            </a:pPr>
            <a:r>
              <a:t>Downscale, calibrate, combine, and verify seasonal forecasts.</a:t>
            </a:r>
          </a:p>
        </p:txBody>
      </p:sp>
      <p:sp>
        <p:nvSpPr>
          <p:cNvPr id="15" name="Right Arrow 14"/>
          <p:cNvSpPr/>
          <p:nvPr/>
        </p:nvSpPr>
        <p:spPr>
          <a:xfrm>
            <a:off x="8494776" y="3730752"/>
            <a:ext cx="393192" cy="182880"/>
          </a:xfrm>
          <a:prstGeom prst="rightArrow">
            <a:avLst/>
          </a:prstGeom>
          <a:solidFill>
            <a:srgbClr val="11111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9052560" y="2880360"/>
            <a:ext cx="2560320" cy="1920240"/>
          </a:xfrm>
          <a:prstGeom prst="rect">
            <a:avLst/>
          </a:prstGeom>
          <a:solidFill>
            <a:srgbClr val="FFFFFF"/>
          </a:solidFill>
          <a:ln w="1270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9217152" y="3017520"/>
            <a:ext cx="2231136" cy="393192"/>
          </a:xfrm>
          <a:prstGeom prst="rect">
            <a:avLst/>
          </a:prstGeom>
          <a:noFill/>
        </p:spPr>
        <p:txBody>
          <a:bodyPr wrap="square" lIns="0" rIns="0" tIns="0" bIns="0">
            <a:spAutoFit/>
          </a:bodyPr>
          <a:lstStyle/>
          <a:p>
            <a:pPr>
              <a:spcAft>
                <a:spcPts val="200"/>
              </a:spcAft>
              <a:defRPr sz="1800" b="1">
                <a:solidFill>
                  <a:srgbClr val="111111"/>
                </a:solidFill>
                <a:latin typeface="Arial"/>
              </a:defRPr>
            </a:pPr>
            <a:r>
              <a:t>Forecast products</a:t>
            </a:r>
          </a:p>
        </p:txBody>
      </p:sp>
      <p:sp>
        <p:nvSpPr>
          <p:cNvPr id="18" name="TextBox 17"/>
          <p:cNvSpPr txBox="1"/>
          <p:nvPr/>
        </p:nvSpPr>
        <p:spPr>
          <a:xfrm>
            <a:off x="9217152" y="3474720"/>
            <a:ext cx="2231136" cy="1234440"/>
          </a:xfrm>
          <a:prstGeom prst="rect">
            <a:avLst/>
          </a:prstGeom>
          <a:noFill/>
        </p:spPr>
        <p:txBody>
          <a:bodyPr wrap="square" lIns="0" rIns="0" tIns="0" bIns="0">
            <a:spAutoFit/>
          </a:bodyPr>
          <a:lstStyle/>
          <a:p>
            <a:pPr>
              <a:spcAft>
                <a:spcPts val="200"/>
              </a:spcAft>
              <a:defRPr sz="1700" b="0">
                <a:solidFill>
                  <a:srgbClr val="111111"/>
                </a:solidFill>
                <a:latin typeface="Arial"/>
              </a:defRPr>
            </a:pPr>
            <a:r>
              <a:t>Fields, probabilities, verification, and briefing figures.</a:t>
            </a:r>
          </a:p>
        </p:txBody>
      </p:sp>
      <p:sp>
        <p:nvSpPr>
          <p:cNvPr id="19" name="TextBox 18"/>
          <p:cNvSpPr txBox="1"/>
          <p:nvPr/>
        </p:nvSpPr>
        <p:spPr>
          <a:xfrm>
            <a:off x="594360" y="5175504"/>
            <a:ext cx="10972800" cy="411480"/>
          </a:xfrm>
          <a:prstGeom prst="rect">
            <a:avLst/>
          </a:prstGeom>
          <a:noFill/>
        </p:spPr>
        <p:txBody>
          <a:bodyPr wrap="square" lIns="0" rIns="0" tIns="0" bIns="0">
            <a:spAutoFit/>
          </a:bodyPr>
          <a:lstStyle/>
          <a:p>
            <a:pPr>
              <a:spcAft>
                <a:spcPts val="200"/>
              </a:spcAft>
              <a:defRPr sz="1800" b="0">
                <a:solidFill>
                  <a:srgbClr val="666666"/>
                </a:solidFill>
                <a:latin typeface="Arial"/>
              </a:defRPr>
            </a:pPr>
            <a:r>
              <a:t>Methods include logistic regression, canonical correlation analysis, quantile mapping, and BCSD.</a:t>
            </a:r>
          </a:p>
        </p:txBody>
      </p:sp>
      <p:sp>
        <p:nvSpPr>
          <p:cNvPr id="20" name="TextBox 19"/>
          <p:cNvSpPr txBox="1"/>
          <p:nvPr/>
        </p:nvSpPr>
        <p:spPr>
          <a:xfrm>
            <a:off x="594360" y="5751576"/>
            <a:ext cx="10972800" cy="347472"/>
          </a:xfrm>
          <a:prstGeom prst="rect">
            <a:avLst/>
          </a:prstGeom>
          <a:noFill/>
        </p:spPr>
        <p:txBody>
          <a:bodyPr wrap="square" lIns="0" rIns="0" tIns="0" bIns="0">
            <a:spAutoFit/>
          </a:bodyPr>
          <a:lstStyle/>
          <a:p>
            <a:pPr>
              <a:spcAft>
                <a:spcPts val="200"/>
              </a:spcAft>
              <a:defRPr sz="1900" b="1">
                <a:solidFill>
                  <a:srgbClr val="111111"/>
                </a:solidFill>
                <a:latin typeface="Arial"/>
              </a:defRPr>
            </a:pPr>
            <a:r>
              <a:t>The benchmark tests the value of reuse against an agent implementing the workflow in Python.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274320"/>
            <a:ext cx="10058400" cy="201168"/>
          </a:xfrm>
          <a:prstGeom prst="rect">
            <a:avLst/>
          </a:prstGeom>
          <a:noFill/>
        </p:spPr>
        <p:txBody>
          <a:bodyPr wrap="square" lIns="0" rIns="0" tIns="0" bIns="0">
            <a:spAutoFit/>
          </a:bodyPr>
          <a:lstStyle/>
          <a:p>
            <a:pPr>
              <a:spcAft>
                <a:spcPts val="200"/>
              </a:spcAft>
              <a:defRPr sz="1000" b="1">
                <a:solidFill>
                  <a:srgbClr val="666666"/>
                </a:solidFill>
                <a:latin typeface="Arial"/>
              </a:defRPr>
            </a:pPr>
            <a:r>
              <a:t>WEATHER AGENT BENCHMARK</a:t>
            </a:r>
          </a:p>
        </p:txBody>
      </p:sp>
      <p:sp>
        <p:nvSpPr>
          <p:cNvPr id="3" name="TextBox 2"/>
          <p:cNvSpPr txBox="1"/>
          <p:nvPr/>
        </p:nvSpPr>
        <p:spPr>
          <a:xfrm>
            <a:off x="530352" y="740664"/>
            <a:ext cx="11064240" cy="749808"/>
          </a:xfrm>
          <a:prstGeom prst="rect">
            <a:avLst/>
          </a:prstGeom>
          <a:noFill/>
        </p:spPr>
        <p:txBody>
          <a:bodyPr wrap="square" lIns="0" rIns="0" tIns="0" bIns="0">
            <a:spAutoFit/>
          </a:bodyPr>
          <a:lstStyle/>
          <a:p>
            <a:pPr>
              <a:spcAft>
                <a:spcPts val="200"/>
              </a:spcAft>
              <a:defRPr sz="3000" b="1">
                <a:solidFill>
                  <a:srgbClr val="111111"/>
                </a:solidFill>
                <a:latin typeface="Arial"/>
              </a:defRPr>
            </a:pPr>
            <a:r>
              <a:t>Skills can expose commands or teach library APIs</a:t>
            </a:r>
          </a:p>
        </p:txBody>
      </p:sp>
      <p:cxnSp>
        <p:nvCxnSpPr>
          <p:cNvPr id="4" name="Connector 3"/>
          <p:cNvCxnSpPr/>
          <p:nvPr/>
        </p:nvCxnSpPr>
        <p:spPr>
          <a:xfrm>
            <a:off x="530352" y="6382512"/>
            <a:ext cx="11128248" cy="0"/>
          </a:xfrm>
          <a:prstGeom prst="line">
            <a:avLst/>
          </a:prstGeom>
          <a:ln w="12700">
            <a:solidFill>
              <a:srgbClr val="D1D1D1"/>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0352" y="6492240"/>
            <a:ext cx="10424160" cy="182880"/>
          </a:xfrm>
          <a:prstGeom prst="rect">
            <a:avLst/>
          </a:prstGeom>
          <a:noFill/>
        </p:spPr>
        <p:txBody>
          <a:bodyPr wrap="square" lIns="0" rIns="0" tIns="0" bIns="0">
            <a:spAutoFit/>
          </a:bodyPr>
          <a:lstStyle/>
          <a:p>
            <a:pPr>
              <a:spcAft>
                <a:spcPts val="200"/>
              </a:spcAft>
              <a:defRPr sz="1000" b="0">
                <a:solidFill>
                  <a:srgbClr val="666666"/>
                </a:solidFill>
                <a:latin typeface="Arial"/>
              </a:defRPr>
            </a:pPr>
            <a:r>
              <a:t>Weather Skills Benchmark  /  Research design and current pilot</a:t>
            </a:r>
          </a:p>
        </p:txBody>
      </p:sp>
      <p:sp>
        <p:nvSpPr>
          <p:cNvPr id="6" name="TextBox 5"/>
          <p:cNvSpPr txBox="1"/>
          <p:nvPr/>
        </p:nvSpPr>
        <p:spPr>
          <a:xfrm>
            <a:off x="11155680" y="6473952"/>
            <a:ext cx="502920" cy="210312"/>
          </a:xfrm>
          <a:prstGeom prst="rect">
            <a:avLst/>
          </a:prstGeom>
          <a:noFill/>
        </p:spPr>
        <p:txBody>
          <a:bodyPr wrap="square" lIns="0" rIns="0" tIns="0" bIns="0">
            <a:spAutoFit/>
          </a:bodyPr>
          <a:lstStyle/>
          <a:p>
            <a:pPr algn="r">
              <a:spcAft>
                <a:spcPts val="200"/>
              </a:spcAft>
              <a:defRPr sz="1000" b="0">
                <a:solidFill>
                  <a:srgbClr val="666666"/>
                </a:solidFill>
                <a:latin typeface="Arial"/>
              </a:defRPr>
            </a:pPr>
            <a:r>
              <a:t>02</a:t>
            </a:r>
          </a:p>
        </p:txBody>
      </p:sp>
      <p:sp>
        <p:nvSpPr>
          <p:cNvPr id="7" name="TextBox 6"/>
          <p:cNvSpPr txBox="1"/>
          <p:nvPr/>
        </p:nvSpPr>
        <p:spPr>
          <a:xfrm>
            <a:off x="594360" y="1581912"/>
            <a:ext cx="10972800" cy="365760"/>
          </a:xfrm>
          <a:prstGeom prst="rect">
            <a:avLst/>
          </a:prstGeom>
          <a:noFill/>
        </p:spPr>
        <p:txBody>
          <a:bodyPr wrap="square" lIns="0" rIns="0" tIns="0" bIns="0">
            <a:spAutoFit/>
          </a:bodyPr>
          <a:lstStyle/>
          <a:p>
            <a:pPr>
              <a:spcAft>
                <a:spcPts val="200"/>
              </a:spcAft>
              <a:defRPr sz="2000" b="0">
                <a:solidFill>
                  <a:srgbClr val="111111"/>
                </a:solidFill>
                <a:latin typeface="Arial"/>
              </a:defRPr>
            </a:pPr>
            <a:r>
              <a:t>Both approaches reuse scientific code. They differ in how the agent composes and repairs the workflow.</a:t>
            </a:r>
          </a:p>
        </p:txBody>
      </p:sp>
      <p:sp>
        <p:nvSpPr>
          <p:cNvPr id="8" name="TextBox 7"/>
          <p:cNvSpPr txBox="1"/>
          <p:nvPr/>
        </p:nvSpPr>
        <p:spPr>
          <a:xfrm>
            <a:off x="594360" y="2276856"/>
            <a:ext cx="2240280" cy="685800"/>
          </a:xfrm>
          <a:prstGeom prst="rect">
            <a:avLst/>
          </a:prstGeom>
          <a:noFill/>
        </p:spPr>
        <p:txBody>
          <a:bodyPr wrap="square" lIns="0" rIns="0" tIns="0" bIns="0">
            <a:spAutoFit/>
          </a:bodyPr>
          <a:lstStyle/>
          <a:p>
            <a:pPr>
              <a:spcAft>
                <a:spcPts val="200"/>
              </a:spcAft>
              <a:defRPr sz="1800" b="1">
                <a:solidFill>
                  <a:srgbClr val="111111"/>
                </a:solidFill>
                <a:latin typeface="Arial"/>
              </a:defRPr>
            </a:pPr>
            <a:r>
              <a:t>Command-oriented</a:t>
            </a:r>
          </a:p>
          <a:p>
            <a:pPr>
              <a:spcAft>
                <a:spcPts val="200"/>
              </a:spcAft>
              <a:defRPr sz="1800" b="1">
                <a:solidFill>
                  <a:srgbClr val="111111"/>
                </a:solidFill>
                <a:latin typeface="Arial"/>
              </a:defRPr>
            </a:pPr>
            <a:r>
              <a:t>weather-skills</a:t>
            </a:r>
          </a:p>
        </p:txBody>
      </p:sp>
      <p:sp>
        <p:nvSpPr>
          <p:cNvPr id="9" name="Rectangle 8"/>
          <p:cNvSpPr/>
          <p:nvPr/>
        </p:nvSpPr>
        <p:spPr>
          <a:xfrm>
            <a:off x="2798064" y="2148840"/>
            <a:ext cx="2331720" cy="1252728"/>
          </a:xfrm>
          <a:prstGeom prst="rect">
            <a:avLst/>
          </a:prstGeom>
          <a:solidFill>
            <a:srgbClr val="FFFFFF"/>
          </a:solidFill>
          <a:ln w="1270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962656" y="2286000"/>
            <a:ext cx="2002536" cy="393192"/>
          </a:xfrm>
          <a:prstGeom prst="rect">
            <a:avLst/>
          </a:prstGeom>
          <a:noFill/>
        </p:spPr>
        <p:txBody>
          <a:bodyPr wrap="square" lIns="0" rIns="0" tIns="0" bIns="0">
            <a:spAutoFit/>
          </a:bodyPr>
          <a:lstStyle/>
          <a:p>
            <a:pPr>
              <a:spcAft>
                <a:spcPts val="200"/>
              </a:spcAft>
              <a:defRPr sz="1800" b="1">
                <a:solidFill>
                  <a:srgbClr val="111111"/>
                </a:solidFill>
                <a:latin typeface="Arial"/>
              </a:defRPr>
            </a:pPr>
            <a:r>
              <a:t>Agent</a:t>
            </a:r>
          </a:p>
        </p:txBody>
      </p:sp>
      <p:sp>
        <p:nvSpPr>
          <p:cNvPr id="11" name="TextBox 10"/>
          <p:cNvSpPr txBox="1"/>
          <p:nvPr/>
        </p:nvSpPr>
        <p:spPr>
          <a:xfrm>
            <a:off x="2962656" y="2743200"/>
            <a:ext cx="2002536" cy="566928"/>
          </a:xfrm>
          <a:prstGeom prst="rect">
            <a:avLst/>
          </a:prstGeom>
          <a:noFill/>
        </p:spPr>
        <p:txBody>
          <a:bodyPr wrap="square" lIns="0" rIns="0" tIns="0" bIns="0">
            <a:spAutoFit/>
          </a:bodyPr>
          <a:lstStyle/>
          <a:p>
            <a:pPr>
              <a:spcAft>
                <a:spcPts val="200"/>
              </a:spcAft>
              <a:defRPr sz="1700" b="0">
                <a:solidFill>
                  <a:srgbClr val="111111"/>
                </a:solidFill>
                <a:latin typeface="Arial"/>
              </a:defRPr>
            </a:pPr>
            <a:r>
              <a:t>Select skill and args</a:t>
            </a:r>
          </a:p>
        </p:txBody>
      </p:sp>
      <p:sp>
        <p:nvSpPr>
          <p:cNvPr id="12" name="Right Arrow 11"/>
          <p:cNvSpPr/>
          <p:nvPr/>
        </p:nvSpPr>
        <p:spPr>
          <a:xfrm>
            <a:off x="5276088" y="2697480"/>
            <a:ext cx="329184" cy="164592"/>
          </a:xfrm>
          <a:prstGeom prst="rightArrow">
            <a:avLst/>
          </a:prstGeom>
          <a:solidFill>
            <a:srgbClr val="11111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5751576" y="2148840"/>
            <a:ext cx="2404872" cy="1252728"/>
          </a:xfrm>
          <a:prstGeom prst="rect">
            <a:avLst/>
          </a:prstGeom>
          <a:solidFill>
            <a:srgbClr val="FFFFFF"/>
          </a:solidFill>
          <a:ln w="1270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5916168" y="2286000"/>
            <a:ext cx="2075688" cy="393192"/>
          </a:xfrm>
          <a:prstGeom prst="rect">
            <a:avLst/>
          </a:prstGeom>
          <a:noFill/>
        </p:spPr>
        <p:txBody>
          <a:bodyPr wrap="square" lIns="0" rIns="0" tIns="0" bIns="0">
            <a:spAutoFit/>
          </a:bodyPr>
          <a:lstStyle/>
          <a:p>
            <a:pPr>
              <a:spcAft>
                <a:spcPts val="200"/>
              </a:spcAft>
              <a:defRPr sz="1800" b="1">
                <a:solidFill>
                  <a:srgbClr val="111111"/>
                </a:solidFill>
                <a:latin typeface="Arial"/>
              </a:defRPr>
            </a:pPr>
            <a:r>
              <a:t>Skill wrapper</a:t>
            </a:r>
          </a:p>
        </p:txBody>
      </p:sp>
      <p:sp>
        <p:nvSpPr>
          <p:cNvPr id="15" name="TextBox 14"/>
          <p:cNvSpPr txBox="1"/>
          <p:nvPr/>
        </p:nvSpPr>
        <p:spPr>
          <a:xfrm>
            <a:off x="5916168" y="2743200"/>
            <a:ext cx="2075688" cy="566928"/>
          </a:xfrm>
          <a:prstGeom prst="rect">
            <a:avLst/>
          </a:prstGeom>
          <a:noFill/>
        </p:spPr>
        <p:txBody>
          <a:bodyPr wrap="square" lIns="0" rIns="0" tIns="0" bIns="0">
            <a:spAutoFit/>
          </a:bodyPr>
          <a:lstStyle/>
          <a:p>
            <a:pPr>
              <a:spcAft>
                <a:spcPts val="200"/>
              </a:spcAft>
              <a:defRPr sz="1700" b="0">
                <a:solidFill>
                  <a:srgbClr val="111111"/>
                </a:solidFill>
                <a:latin typeface="Arial"/>
              </a:defRPr>
            </a:pPr>
            <a:r>
              <a:t>Run a subprocess</a:t>
            </a:r>
          </a:p>
        </p:txBody>
      </p:sp>
      <p:sp>
        <p:nvSpPr>
          <p:cNvPr id="16" name="Right Arrow 15"/>
          <p:cNvSpPr/>
          <p:nvPr/>
        </p:nvSpPr>
        <p:spPr>
          <a:xfrm>
            <a:off x="8302752" y="2697480"/>
            <a:ext cx="329184" cy="164592"/>
          </a:xfrm>
          <a:prstGeom prst="rightArrow">
            <a:avLst/>
          </a:prstGeom>
          <a:solidFill>
            <a:srgbClr val="11111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8769096" y="2148840"/>
            <a:ext cx="2788920" cy="1252728"/>
          </a:xfrm>
          <a:prstGeom prst="rect">
            <a:avLst/>
          </a:prstGeom>
          <a:solidFill>
            <a:srgbClr val="FFFFFF"/>
          </a:solidFill>
          <a:ln w="1270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933688" y="2286000"/>
            <a:ext cx="2459736" cy="393192"/>
          </a:xfrm>
          <a:prstGeom prst="rect">
            <a:avLst/>
          </a:prstGeom>
          <a:noFill/>
        </p:spPr>
        <p:txBody>
          <a:bodyPr wrap="square" lIns="0" rIns="0" tIns="0" bIns="0">
            <a:spAutoFit/>
          </a:bodyPr>
          <a:lstStyle/>
          <a:p>
            <a:pPr>
              <a:spcAft>
                <a:spcPts val="200"/>
              </a:spcAft>
              <a:defRPr sz="1800" b="1">
                <a:solidFill>
                  <a:srgbClr val="111111"/>
                </a:solidFill>
                <a:latin typeface="Arial"/>
              </a:defRPr>
            </a:pPr>
            <a:r>
              <a:t>Vetted code</a:t>
            </a:r>
          </a:p>
        </p:txBody>
      </p:sp>
      <p:sp>
        <p:nvSpPr>
          <p:cNvPr id="19" name="TextBox 18"/>
          <p:cNvSpPr txBox="1"/>
          <p:nvPr/>
        </p:nvSpPr>
        <p:spPr>
          <a:xfrm>
            <a:off x="8933688" y="2743200"/>
            <a:ext cx="2459736" cy="566928"/>
          </a:xfrm>
          <a:prstGeom prst="rect">
            <a:avLst/>
          </a:prstGeom>
          <a:noFill/>
        </p:spPr>
        <p:txBody>
          <a:bodyPr wrap="square" lIns="0" rIns="0" tIns="0" bIns="0">
            <a:spAutoFit/>
          </a:bodyPr>
          <a:lstStyle/>
          <a:p>
            <a:pPr>
              <a:spcAft>
                <a:spcPts val="200"/>
              </a:spcAft>
              <a:defRPr sz="1700" b="0">
                <a:solidFill>
                  <a:srgbClr val="111111"/>
                </a:solidFill>
                <a:latin typeface="Arial"/>
              </a:defRPr>
            </a:pPr>
            <a:r>
              <a:t>Write an artifact</a:t>
            </a:r>
          </a:p>
        </p:txBody>
      </p:sp>
      <p:cxnSp>
        <p:nvCxnSpPr>
          <p:cNvPr id="20" name="Connector 19"/>
          <p:cNvCxnSpPr/>
          <p:nvPr/>
        </p:nvCxnSpPr>
        <p:spPr>
          <a:xfrm>
            <a:off x="594360" y="3675887"/>
            <a:ext cx="10991088" cy="0"/>
          </a:xfrm>
          <a:prstGeom prst="line">
            <a:avLst/>
          </a:prstGeom>
          <a:ln w="12700">
            <a:solidFill>
              <a:srgbClr val="D1D1D1"/>
            </a:solidFill>
          </a:ln>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594360" y="4050791"/>
            <a:ext cx="2240280" cy="777240"/>
          </a:xfrm>
          <a:prstGeom prst="rect">
            <a:avLst/>
          </a:prstGeom>
          <a:noFill/>
        </p:spPr>
        <p:txBody>
          <a:bodyPr wrap="square" lIns="0" rIns="0" tIns="0" bIns="0">
            <a:spAutoFit/>
          </a:bodyPr>
          <a:lstStyle/>
          <a:p>
            <a:pPr>
              <a:spcAft>
                <a:spcPts val="200"/>
              </a:spcAft>
              <a:defRPr sz="1900" b="1">
                <a:solidFill>
                  <a:srgbClr val="111111"/>
                </a:solidFill>
                <a:latin typeface="Arial"/>
              </a:defRPr>
            </a:pPr>
            <a:r>
              <a:t>Library-oriented</a:t>
            </a:r>
          </a:p>
          <a:p>
            <a:pPr>
              <a:spcAft>
                <a:spcPts val="200"/>
              </a:spcAft>
              <a:defRPr sz="1900" b="1">
                <a:solidFill>
                  <a:srgbClr val="111111"/>
                </a:solidFill>
                <a:latin typeface="Arial"/>
              </a:defRPr>
            </a:pPr>
            <a:r>
              <a:t>acmadDL / africaS2S</a:t>
            </a:r>
          </a:p>
        </p:txBody>
      </p:sp>
      <p:sp>
        <p:nvSpPr>
          <p:cNvPr id="22" name="Rectangle 21"/>
          <p:cNvSpPr/>
          <p:nvPr/>
        </p:nvSpPr>
        <p:spPr>
          <a:xfrm>
            <a:off x="2798064" y="3913632"/>
            <a:ext cx="2331720" cy="1399032"/>
          </a:xfrm>
          <a:prstGeom prst="rect">
            <a:avLst/>
          </a:prstGeom>
          <a:solidFill>
            <a:srgbClr val="FFFFFF"/>
          </a:solidFill>
          <a:ln w="1270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2962656" y="4050792"/>
            <a:ext cx="2002536" cy="393192"/>
          </a:xfrm>
          <a:prstGeom prst="rect">
            <a:avLst/>
          </a:prstGeom>
          <a:noFill/>
        </p:spPr>
        <p:txBody>
          <a:bodyPr wrap="square" lIns="0" rIns="0" tIns="0" bIns="0">
            <a:spAutoFit/>
          </a:bodyPr>
          <a:lstStyle/>
          <a:p>
            <a:pPr>
              <a:spcAft>
                <a:spcPts val="200"/>
              </a:spcAft>
              <a:defRPr sz="1800" b="1">
                <a:solidFill>
                  <a:srgbClr val="111111"/>
                </a:solidFill>
                <a:latin typeface="Arial"/>
              </a:defRPr>
            </a:pPr>
            <a:r>
              <a:t>Skill guide</a:t>
            </a:r>
          </a:p>
        </p:txBody>
      </p:sp>
      <p:sp>
        <p:nvSpPr>
          <p:cNvPr id="24" name="TextBox 23"/>
          <p:cNvSpPr txBox="1"/>
          <p:nvPr/>
        </p:nvSpPr>
        <p:spPr>
          <a:xfrm>
            <a:off x="2962656" y="4507992"/>
            <a:ext cx="2002536" cy="713232"/>
          </a:xfrm>
          <a:prstGeom prst="rect">
            <a:avLst/>
          </a:prstGeom>
          <a:noFill/>
        </p:spPr>
        <p:txBody>
          <a:bodyPr wrap="square" lIns="0" rIns="0" tIns="0" bIns="0">
            <a:spAutoFit/>
          </a:bodyPr>
          <a:lstStyle/>
          <a:p>
            <a:pPr>
              <a:spcAft>
                <a:spcPts val="200"/>
              </a:spcAft>
              <a:defRPr sz="1700" b="0">
                <a:solidFill>
                  <a:srgbClr val="111111"/>
                </a:solidFill>
                <a:latin typeface="Arial"/>
              </a:defRPr>
            </a:pPr>
            <a:r>
              <a:t>API rules and</a:t>
            </a:r>
          </a:p>
          <a:p>
            <a:pPr>
              <a:spcAft>
                <a:spcPts val="200"/>
              </a:spcAft>
              <a:defRPr sz="1700" b="0">
                <a:solidFill>
                  <a:srgbClr val="111111"/>
                </a:solidFill>
                <a:latin typeface="Arial"/>
              </a:defRPr>
            </a:pPr>
            <a:r>
              <a:t>relevant references</a:t>
            </a:r>
          </a:p>
        </p:txBody>
      </p:sp>
      <p:sp>
        <p:nvSpPr>
          <p:cNvPr id="25" name="Right Arrow 24"/>
          <p:cNvSpPr/>
          <p:nvPr/>
        </p:nvSpPr>
        <p:spPr>
          <a:xfrm>
            <a:off x="5276088" y="4535424"/>
            <a:ext cx="329184" cy="164592"/>
          </a:xfrm>
          <a:prstGeom prst="rightArrow">
            <a:avLst/>
          </a:prstGeom>
          <a:solidFill>
            <a:srgbClr val="11111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5751576" y="3913632"/>
            <a:ext cx="2404872" cy="1399032"/>
          </a:xfrm>
          <a:prstGeom prst="rect">
            <a:avLst/>
          </a:prstGeom>
          <a:solidFill>
            <a:srgbClr val="FFFFFF"/>
          </a:solidFill>
          <a:ln w="12700">
            <a:solidFill>
              <a:srgbClr val="2057A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5916168" y="4050792"/>
            <a:ext cx="2075688" cy="393192"/>
          </a:xfrm>
          <a:prstGeom prst="rect">
            <a:avLst/>
          </a:prstGeom>
          <a:noFill/>
        </p:spPr>
        <p:txBody>
          <a:bodyPr wrap="square" lIns="0" rIns="0" tIns="0" bIns="0">
            <a:spAutoFit/>
          </a:bodyPr>
          <a:lstStyle/>
          <a:p>
            <a:pPr>
              <a:spcAft>
                <a:spcPts val="200"/>
              </a:spcAft>
              <a:defRPr sz="1800" b="1">
                <a:solidFill>
                  <a:srgbClr val="2057A5"/>
                </a:solidFill>
                <a:latin typeface="Arial"/>
              </a:defRPr>
            </a:pPr>
            <a:r>
              <a:t>Python code</a:t>
            </a:r>
          </a:p>
        </p:txBody>
      </p:sp>
      <p:sp>
        <p:nvSpPr>
          <p:cNvPr id="28" name="TextBox 27"/>
          <p:cNvSpPr txBox="1"/>
          <p:nvPr/>
        </p:nvSpPr>
        <p:spPr>
          <a:xfrm>
            <a:off x="5916168" y="4507992"/>
            <a:ext cx="2075688" cy="713232"/>
          </a:xfrm>
          <a:prstGeom prst="rect">
            <a:avLst/>
          </a:prstGeom>
          <a:noFill/>
        </p:spPr>
        <p:txBody>
          <a:bodyPr wrap="square" lIns="0" rIns="0" tIns="0" bIns="0">
            <a:spAutoFit/>
          </a:bodyPr>
          <a:lstStyle/>
          <a:p>
            <a:pPr>
              <a:spcAft>
                <a:spcPts val="200"/>
              </a:spcAft>
              <a:defRPr sz="1700" b="0">
                <a:solidFill>
                  <a:srgbClr val="111111"/>
                </a:solidFill>
                <a:latin typeface="Arial"/>
              </a:defRPr>
            </a:pPr>
            <a:r>
              <a:t>Compose library calls;</a:t>
            </a:r>
          </a:p>
          <a:p>
            <a:pPr>
              <a:spcAft>
                <a:spcPts val="200"/>
              </a:spcAft>
              <a:defRPr sz="1700" b="0">
                <a:solidFill>
                  <a:srgbClr val="111111"/>
                </a:solidFill>
                <a:latin typeface="Arial"/>
              </a:defRPr>
            </a:pPr>
            <a:r>
              <a:t>handle errors</a:t>
            </a:r>
          </a:p>
        </p:txBody>
      </p:sp>
      <p:sp>
        <p:nvSpPr>
          <p:cNvPr id="29" name="Right Arrow 28"/>
          <p:cNvSpPr/>
          <p:nvPr/>
        </p:nvSpPr>
        <p:spPr>
          <a:xfrm>
            <a:off x="8302752" y="4535424"/>
            <a:ext cx="329184" cy="164592"/>
          </a:xfrm>
          <a:prstGeom prst="rightArrow">
            <a:avLst/>
          </a:prstGeom>
          <a:solidFill>
            <a:srgbClr val="11111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8769096" y="3913632"/>
            <a:ext cx="2788920" cy="1399032"/>
          </a:xfrm>
          <a:prstGeom prst="rect">
            <a:avLst/>
          </a:prstGeom>
          <a:solidFill>
            <a:srgbClr val="FFFFFF"/>
          </a:solidFill>
          <a:ln w="1270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8933688" y="4050792"/>
            <a:ext cx="2459736" cy="393192"/>
          </a:xfrm>
          <a:prstGeom prst="rect">
            <a:avLst/>
          </a:prstGeom>
          <a:noFill/>
        </p:spPr>
        <p:txBody>
          <a:bodyPr wrap="square" lIns="0" rIns="0" tIns="0" bIns="0">
            <a:spAutoFit/>
          </a:bodyPr>
          <a:lstStyle/>
          <a:p>
            <a:pPr>
              <a:spcAft>
                <a:spcPts val="200"/>
              </a:spcAft>
              <a:defRPr sz="1800" b="1">
                <a:solidFill>
                  <a:srgbClr val="111111"/>
                </a:solidFill>
                <a:latin typeface="Arial"/>
              </a:defRPr>
            </a:pPr>
            <a:r>
              <a:t>Vetted libraries</a:t>
            </a:r>
          </a:p>
        </p:txBody>
      </p:sp>
      <p:sp>
        <p:nvSpPr>
          <p:cNvPr id="32" name="TextBox 31"/>
          <p:cNvSpPr txBox="1"/>
          <p:nvPr/>
        </p:nvSpPr>
        <p:spPr>
          <a:xfrm>
            <a:off x="8933688" y="4507992"/>
            <a:ext cx="2459736" cy="713232"/>
          </a:xfrm>
          <a:prstGeom prst="rect">
            <a:avLst/>
          </a:prstGeom>
          <a:noFill/>
        </p:spPr>
        <p:txBody>
          <a:bodyPr wrap="square" lIns="0" rIns="0" tIns="0" bIns="0">
            <a:spAutoFit/>
          </a:bodyPr>
          <a:lstStyle/>
          <a:p>
            <a:pPr>
              <a:spcAft>
                <a:spcPts val="200"/>
              </a:spcAft>
              <a:defRPr sz="1700" b="0">
                <a:solidFill>
                  <a:srgbClr val="111111"/>
                </a:solidFill>
                <a:latin typeface="Arial"/>
              </a:defRPr>
            </a:pPr>
            <a:r>
              <a:t>Execute scientific</a:t>
            </a:r>
          </a:p>
          <a:p>
            <a:pPr>
              <a:spcAft>
                <a:spcPts val="200"/>
              </a:spcAft>
              <a:defRPr sz="1700" b="0">
                <a:solidFill>
                  <a:srgbClr val="111111"/>
                </a:solidFill>
                <a:latin typeface="Arial"/>
              </a:defRPr>
            </a:pPr>
            <a:r>
              <a:t>methods</a:t>
            </a:r>
          </a:p>
        </p:txBody>
      </p:sp>
      <p:sp>
        <p:nvSpPr>
          <p:cNvPr id="33" name="TextBox 32"/>
          <p:cNvSpPr txBox="1"/>
          <p:nvPr/>
        </p:nvSpPr>
        <p:spPr>
          <a:xfrm>
            <a:off x="594360" y="5687568"/>
            <a:ext cx="10972800" cy="466344"/>
          </a:xfrm>
          <a:prstGeom prst="rect">
            <a:avLst/>
          </a:prstGeom>
          <a:noFill/>
        </p:spPr>
        <p:txBody>
          <a:bodyPr wrap="square" lIns="0" rIns="0" tIns="0" bIns="0">
            <a:spAutoFit/>
          </a:bodyPr>
          <a:lstStyle/>
          <a:p>
            <a:pPr>
              <a:spcAft>
                <a:spcPts val="200"/>
              </a:spcAft>
              <a:defRPr sz="2000" b="1">
                <a:solidFill>
                  <a:srgbClr val="111111"/>
                </a:solidFill>
                <a:latin typeface="Arial"/>
              </a:defRPr>
            </a:pPr>
            <a:r>
              <a:t>Hypothesis: progressive disclosure plus Python supports recovery from data, API, and workflow failures.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274320"/>
            <a:ext cx="10058400" cy="201168"/>
          </a:xfrm>
          <a:prstGeom prst="rect">
            <a:avLst/>
          </a:prstGeom>
          <a:noFill/>
        </p:spPr>
        <p:txBody>
          <a:bodyPr wrap="square" lIns="0" rIns="0" tIns="0" bIns="0">
            <a:spAutoFit/>
          </a:bodyPr>
          <a:lstStyle/>
          <a:p>
            <a:pPr>
              <a:spcAft>
                <a:spcPts val="200"/>
              </a:spcAft>
              <a:defRPr sz="1000" b="1">
                <a:solidFill>
                  <a:srgbClr val="666666"/>
                </a:solidFill>
                <a:latin typeface="Arial"/>
              </a:defRPr>
            </a:pPr>
            <a:r>
              <a:t>WEATHER AGENT BENCHMARK</a:t>
            </a:r>
          </a:p>
        </p:txBody>
      </p:sp>
      <p:sp>
        <p:nvSpPr>
          <p:cNvPr id="3" name="TextBox 2"/>
          <p:cNvSpPr txBox="1"/>
          <p:nvPr/>
        </p:nvSpPr>
        <p:spPr>
          <a:xfrm>
            <a:off x="530352" y="740664"/>
            <a:ext cx="11064240" cy="749808"/>
          </a:xfrm>
          <a:prstGeom prst="rect">
            <a:avLst/>
          </a:prstGeom>
          <a:noFill/>
        </p:spPr>
        <p:txBody>
          <a:bodyPr wrap="square" lIns="0" rIns="0" tIns="0" bIns="0">
            <a:spAutoFit/>
          </a:bodyPr>
          <a:lstStyle/>
          <a:p>
            <a:pPr>
              <a:spcAft>
                <a:spcPts val="200"/>
              </a:spcAft>
              <a:defRPr sz="3000" b="1">
                <a:solidFill>
                  <a:srgbClr val="111111"/>
                </a:solidFill>
                <a:latin typeface="Arial"/>
              </a:defRPr>
            </a:pPr>
            <a:r>
              <a:t>The current pilot compares three execution conditions</a:t>
            </a:r>
          </a:p>
        </p:txBody>
      </p:sp>
      <p:cxnSp>
        <p:nvCxnSpPr>
          <p:cNvPr id="4" name="Connector 3"/>
          <p:cNvCxnSpPr/>
          <p:nvPr/>
        </p:nvCxnSpPr>
        <p:spPr>
          <a:xfrm>
            <a:off x="530352" y="6382512"/>
            <a:ext cx="11128248" cy="0"/>
          </a:xfrm>
          <a:prstGeom prst="line">
            <a:avLst/>
          </a:prstGeom>
          <a:ln w="12700">
            <a:solidFill>
              <a:srgbClr val="D1D1D1"/>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0352" y="6492240"/>
            <a:ext cx="10424160" cy="182880"/>
          </a:xfrm>
          <a:prstGeom prst="rect">
            <a:avLst/>
          </a:prstGeom>
          <a:noFill/>
        </p:spPr>
        <p:txBody>
          <a:bodyPr wrap="square" lIns="0" rIns="0" tIns="0" bIns="0">
            <a:spAutoFit/>
          </a:bodyPr>
          <a:lstStyle/>
          <a:p>
            <a:pPr>
              <a:spcAft>
                <a:spcPts val="200"/>
              </a:spcAft>
              <a:defRPr sz="1000" b="0">
                <a:solidFill>
                  <a:srgbClr val="666666"/>
                </a:solidFill>
                <a:latin typeface="Arial"/>
              </a:defRPr>
            </a:pPr>
            <a:r>
              <a:t>Weather Skills Benchmark  /  Research design and current pilot</a:t>
            </a:r>
          </a:p>
        </p:txBody>
      </p:sp>
      <p:sp>
        <p:nvSpPr>
          <p:cNvPr id="6" name="TextBox 5"/>
          <p:cNvSpPr txBox="1"/>
          <p:nvPr/>
        </p:nvSpPr>
        <p:spPr>
          <a:xfrm>
            <a:off x="11155680" y="6473952"/>
            <a:ext cx="502920" cy="210312"/>
          </a:xfrm>
          <a:prstGeom prst="rect">
            <a:avLst/>
          </a:prstGeom>
          <a:noFill/>
        </p:spPr>
        <p:txBody>
          <a:bodyPr wrap="square" lIns="0" rIns="0" tIns="0" bIns="0">
            <a:spAutoFit/>
          </a:bodyPr>
          <a:lstStyle/>
          <a:p>
            <a:pPr algn="r">
              <a:spcAft>
                <a:spcPts val="200"/>
              </a:spcAft>
              <a:defRPr sz="1000" b="0">
                <a:solidFill>
                  <a:srgbClr val="666666"/>
                </a:solidFill>
                <a:latin typeface="Arial"/>
              </a:defRPr>
            </a:pPr>
            <a:r>
              <a:t>03</a:t>
            </a:r>
          </a:p>
        </p:txBody>
      </p:sp>
      <p:graphicFrame>
        <p:nvGraphicFramePr>
          <p:cNvPr id="7" name="Table 6"/>
          <p:cNvGraphicFramePr>
            <a:graphicFrameLocks noGrp="1"/>
          </p:cNvGraphicFramePr>
          <p:nvPr/>
        </p:nvGraphicFramePr>
        <p:xfrm>
          <a:off x="594360" y="1682496"/>
          <a:ext cx="11000232" cy="2606039"/>
        </p:xfrm>
        <a:graphic>
          <a:graphicData uri="http://schemas.openxmlformats.org/drawingml/2006/table">
            <a:tbl>
              <a:tblPr firstRow="1" bandRow="1">
                <a:tableStyleId>{5C22544A-7EE6-4342-B048-85BDC9FD1C3A}</a:tableStyleId>
              </a:tblPr>
              <a:tblGrid>
                <a:gridCol w="2258568"/>
                <a:gridCol w="2121408"/>
                <a:gridCol w="3081528"/>
                <a:gridCol w="3538728"/>
              </a:tblGrid>
              <a:tr h="521207">
                <a:tc>
                  <a:txBody>
                    <a:bodyPr/>
                    <a:lstStyle/>
                    <a:p>
                      <a:pPr>
                        <a:defRPr sz="1700" b="1">
                          <a:solidFill>
                            <a:srgbClr val="FFFFFF"/>
                          </a:solidFill>
                          <a:latin typeface="Arial"/>
                        </a:defRPr>
                      </a:pPr>
                      <a:r>
                        <a:t>Condition</a:t>
                      </a:r>
                    </a:p>
                  </a:txBody>
                  <a:tcPr marL="118872" marR="118872" marT="109728" marB="73152" anchor="ctr">
                    <a:solidFill>
                      <a:srgbClr val="111111"/>
                    </a:solidFill>
                  </a:tcPr>
                </a:tc>
                <a:tc>
                  <a:txBody>
                    <a:bodyPr/>
                    <a:lstStyle/>
                    <a:p>
                      <a:pPr>
                        <a:defRPr sz="1700" b="1">
                          <a:solidFill>
                            <a:srgbClr val="FFFFFF"/>
                          </a:solidFill>
                          <a:latin typeface="Arial"/>
                        </a:defRPr>
                      </a:pPr>
                      <a:r>
                        <a:t>Write Python</a:t>
                      </a:r>
                    </a:p>
                  </a:txBody>
                  <a:tcPr marL="118872" marR="118872" marT="109728" marB="73152" anchor="ctr">
                    <a:solidFill>
                      <a:srgbClr val="111111"/>
                    </a:solidFill>
                  </a:tcPr>
                </a:tc>
                <a:tc>
                  <a:txBody>
                    <a:bodyPr/>
                    <a:lstStyle/>
                    <a:p>
                      <a:pPr>
                        <a:defRPr sz="1700" b="1">
                          <a:solidFill>
                            <a:srgbClr val="FFFFFF"/>
                          </a:solidFill>
                          <a:latin typeface="Arial"/>
                        </a:defRPr>
                      </a:pPr>
                      <a:r>
                        <a:t>Use weather-skills</a:t>
                      </a:r>
                    </a:p>
                  </a:txBody>
                  <a:tcPr marL="118872" marR="118872" marT="109728" marB="73152" anchor="ctr">
                    <a:solidFill>
                      <a:srgbClr val="111111"/>
                    </a:solidFill>
                  </a:tcPr>
                </a:tc>
                <a:tc>
                  <a:txBody>
                    <a:bodyPr/>
                    <a:lstStyle/>
                    <a:p>
                      <a:pPr>
                        <a:defRPr sz="1700" b="1">
                          <a:solidFill>
                            <a:srgbClr val="FFFFFF"/>
                          </a:solidFill>
                          <a:latin typeface="Arial"/>
                        </a:defRPr>
                      </a:pPr>
                      <a:r>
                        <a:t>Question</a:t>
                      </a:r>
                    </a:p>
                  </a:txBody>
                  <a:tcPr marL="118872" marR="118872" marT="109728" marB="73152" anchor="ctr">
                    <a:solidFill>
                      <a:srgbClr val="111111"/>
                    </a:solidFill>
                  </a:tcPr>
                </a:tc>
              </a:tr>
              <a:tr h="694944">
                <a:tc>
                  <a:txBody>
                    <a:bodyPr/>
                    <a:lstStyle/>
                    <a:p>
                      <a:pPr>
                        <a:defRPr sz="1700" b="1">
                          <a:solidFill>
                            <a:srgbClr val="111111"/>
                          </a:solidFill>
                          <a:latin typeface="Arial"/>
                        </a:defRPr>
                      </a:pPr>
                      <a:r>
                        <a:t>Python only</a:t>
                      </a:r>
                    </a:p>
                  </a:txBody>
                  <a:tcPr marL="118872" marR="118872" marT="109728" marB="73152" anchor="ctr">
                    <a:solidFill>
                      <a:srgbClr val="F2F2F2"/>
                    </a:solidFill>
                  </a:tcPr>
                </a:tc>
                <a:tc>
                  <a:txBody>
                    <a:bodyPr/>
                    <a:lstStyle/>
                    <a:p>
                      <a:pPr>
                        <a:defRPr sz="1700" b="0">
                          <a:solidFill>
                            <a:srgbClr val="111111"/>
                          </a:solidFill>
                          <a:latin typeface="Arial"/>
                        </a:defRPr>
                      </a:pPr>
                      <a:r>
                        <a:t>Yes</a:t>
                      </a:r>
                    </a:p>
                  </a:txBody>
                  <a:tcPr marL="118872" marR="118872" marT="109728" marB="73152" anchor="ctr">
                    <a:solidFill>
                      <a:srgbClr val="F2F2F2"/>
                    </a:solidFill>
                  </a:tcPr>
                </a:tc>
                <a:tc>
                  <a:txBody>
                    <a:bodyPr/>
                    <a:lstStyle/>
                    <a:p>
                      <a:pPr>
                        <a:defRPr sz="1700" b="0">
                          <a:solidFill>
                            <a:srgbClr val="111111"/>
                          </a:solidFill>
                          <a:latin typeface="Arial"/>
                        </a:defRPr>
                      </a:pPr>
                      <a:r>
                        <a:t>No</a:t>
                      </a:r>
                    </a:p>
                  </a:txBody>
                  <a:tcPr marL="118872" marR="118872" marT="109728" marB="73152" anchor="ctr">
                    <a:solidFill>
                      <a:srgbClr val="F2F2F2"/>
                    </a:solidFill>
                  </a:tcPr>
                </a:tc>
                <a:tc>
                  <a:txBody>
                    <a:bodyPr/>
                    <a:lstStyle/>
                    <a:p>
                      <a:pPr>
                        <a:defRPr sz="1700" b="0">
                          <a:solidFill>
                            <a:srgbClr val="111111"/>
                          </a:solidFill>
                          <a:latin typeface="Arial"/>
                        </a:defRPr>
                      </a:pPr>
                      <a:r>
                        <a:t>Can the agent implement the task?</a:t>
                      </a:r>
                    </a:p>
                  </a:txBody>
                  <a:tcPr marL="118872" marR="118872" marT="109728" marB="73152" anchor="ctr">
                    <a:solidFill>
                      <a:srgbClr val="F2F2F2"/>
                    </a:solidFill>
                  </a:tcPr>
                </a:tc>
              </a:tr>
              <a:tr h="694944">
                <a:tc>
                  <a:txBody>
                    <a:bodyPr/>
                    <a:lstStyle/>
                    <a:p>
                      <a:pPr>
                        <a:defRPr sz="1700" b="1">
                          <a:solidFill>
                            <a:srgbClr val="111111"/>
                          </a:solidFill>
                          <a:latin typeface="Arial"/>
                        </a:defRPr>
                      </a:pPr>
                      <a:r>
                        <a:t>Skills only</a:t>
                      </a:r>
                    </a:p>
                  </a:txBody>
                  <a:tcPr marL="118872" marR="118872" marT="109728" marB="73152" anchor="ctr">
                    <a:solidFill>
                      <a:srgbClr val="FFFFFF"/>
                    </a:solidFill>
                  </a:tcPr>
                </a:tc>
                <a:tc>
                  <a:txBody>
                    <a:bodyPr/>
                    <a:lstStyle/>
                    <a:p>
                      <a:pPr>
                        <a:defRPr sz="1700" b="0">
                          <a:solidFill>
                            <a:srgbClr val="111111"/>
                          </a:solidFill>
                          <a:latin typeface="Arial"/>
                        </a:defRPr>
                      </a:pPr>
                      <a:r>
                        <a:t>No</a:t>
                      </a:r>
                    </a:p>
                  </a:txBody>
                  <a:tcPr marL="118872" marR="118872" marT="109728" marB="73152" anchor="ctr">
                    <a:solidFill>
                      <a:srgbClr val="FFFFFF"/>
                    </a:solidFill>
                  </a:tcPr>
                </a:tc>
                <a:tc>
                  <a:txBody>
                    <a:bodyPr/>
                    <a:lstStyle/>
                    <a:p>
                      <a:pPr>
                        <a:defRPr sz="1700" b="0">
                          <a:solidFill>
                            <a:srgbClr val="111111"/>
                          </a:solidFill>
                          <a:latin typeface="Arial"/>
                        </a:defRPr>
                      </a:pPr>
                      <a:r>
                        <a:t>Required</a:t>
                      </a:r>
                    </a:p>
                  </a:txBody>
                  <a:tcPr marL="118872" marR="118872" marT="109728" marB="73152" anchor="ctr">
                    <a:solidFill>
                      <a:srgbClr val="FFFFFF"/>
                    </a:solidFill>
                  </a:tcPr>
                </a:tc>
                <a:tc>
                  <a:txBody>
                    <a:bodyPr/>
                    <a:lstStyle/>
                    <a:p>
                      <a:pPr>
                        <a:defRPr sz="1700" b="0">
                          <a:solidFill>
                            <a:srgbClr val="111111"/>
                          </a:solidFill>
                          <a:latin typeface="Arial"/>
                        </a:defRPr>
                      </a:pPr>
                      <a:r>
                        <a:t>Can catalog operations complete it?</a:t>
                      </a:r>
                    </a:p>
                  </a:txBody>
                  <a:tcPr marL="118872" marR="118872" marT="109728" marB="73152" anchor="ctr">
                    <a:solidFill>
                      <a:srgbClr val="FFFFFF"/>
                    </a:solidFill>
                  </a:tcPr>
                </a:tc>
              </a:tr>
              <a:tr h="694944">
                <a:tc>
                  <a:txBody>
                    <a:bodyPr/>
                    <a:lstStyle/>
                    <a:p>
                      <a:pPr>
                        <a:defRPr sz="1700" b="1">
                          <a:solidFill>
                            <a:srgbClr val="2057A5"/>
                          </a:solidFill>
                          <a:latin typeface="Arial"/>
                        </a:defRPr>
                      </a:pPr>
                      <a:r>
                        <a:t>Python + skills</a:t>
                      </a:r>
                    </a:p>
                  </a:txBody>
                  <a:tcPr marL="118872" marR="118872" marT="109728" marB="73152" anchor="ctr">
                    <a:solidFill>
                      <a:srgbClr val="F2F2F2"/>
                    </a:solidFill>
                  </a:tcPr>
                </a:tc>
                <a:tc>
                  <a:txBody>
                    <a:bodyPr/>
                    <a:lstStyle/>
                    <a:p>
                      <a:pPr>
                        <a:defRPr sz="1700" b="0">
                          <a:solidFill>
                            <a:srgbClr val="111111"/>
                          </a:solidFill>
                          <a:latin typeface="Arial"/>
                        </a:defRPr>
                      </a:pPr>
                      <a:r>
                        <a:t>Yes</a:t>
                      </a:r>
                    </a:p>
                  </a:txBody>
                  <a:tcPr marL="118872" marR="118872" marT="109728" marB="73152" anchor="ctr">
                    <a:solidFill>
                      <a:srgbClr val="F2F2F2"/>
                    </a:solidFill>
                  </a:tcPr>
                </a:tc>
                <a:tc>
                  <a:txBody>
                    <a:bodyPr/>
                    <a:lstStyle/>
                    <a:p>
                      <a:pPr>
                        <a:defRPr sz="1700" b="0">
                          <a:solidFill>
                            <a:srgbClr val="111111"/>
                          </a:solidFill>
                          <a:latin typeface="Arial"/>
                        </a:defRPr>
                      </a:pPr>
                      <a:r>
                        <a:t>Available</a:t>
                      </a:r>
                    </a:p>
                  </a:txBody>
                  <a:tcPr marL="118872" marR="118872" marT="109728" marB="73152" anchor="ctr">
                    <a:solidFill>
                      <a:srgbClr val="F2F2F2"/>
                    </a:solidFill>
                  </a:tcPr>
                </a:tc>
                <a:tc>
                  <a:txBody>
                    <a:bodyPr/>
                    <a:lstStyle/>
                    <a:p>
                      <a:pPr>
                        <a:defRPr sz="1700" b="0">
                          <a:solidFill>
                            <a:srgbClr val="111111"/>
                          </a:solidFill>
                          <a:latin typeface="Arial"/>
                        </a:defRPr>
                      </a:pPr>
                      <a:r>
                        <a:t>Does reuse help when code is allowed?</a:t>
                      </a:r>
                    </a:p>
                  </a:txBody>
                  <a:tcPr marL="118872" marR="118872" marT="109728" marB="73152" anchor="ctr">
                    <a:solidFill>
                      <a:srgbClr val="F2F2F2"/>
                    </a:solidFill>
                  </a:tcPr>
                </a:tc>
              </a:tr>
            </a:tbl>
          </a:graphicData>
        </a:graphic>
      </p:graphicFrame>
      <p:sp>
        <p:nvSpPr>
          <p:cNvPr id="8" name="TextBox 7"/>
          <p:cNvSpPr txBox="1"/>
          <p:nvPr/>
        </p:nvSpPr>
        <p:spPr>
          <a:xfrm>
            <a:off x="594360" y="4535424"/>
            <a:ext cx="10972800" cy="393192"/>
          </a:xfrm>
          <a:prstGeom prst="rect">
            <a:avLst/>
          </a:prstGeom>
          <a:noFill/>
        </p:spPr>
        <p:txBody>
          <a:bodyPr wrap="square" lIns="0" rIns="0" tIns="0" bIns="0">
            <a:spAutoFit/>
          </a:bodyPr>
          <a:lstStyle/>
          <a:p>
            <a:pPr>
              <a:spcAft>
                <a:spcPts val="200"/>
              </a:spcAft>
              <a:defRPr sz="2000" b="1">
                <a:solidFill>
                  <a:srgbClr val="111111"/>
                </a:solidFill>
                <a:latin typeface="Arial"/>
              </a:defRPr>
            </a:pPr>
            <a:r>
              <a:t>Main comparison: Python only versus Python + skills. Skills only is a diagnostic condition.</a:t>
            </a:r>
          </a:p>
        </p:txBody>
      </p:sp>
      <p:sp>
        <p:nvSpPr>
          <p:cNvPr id="9" name="TextBox 8"/>
          <p:cNvSpPr txBox="1"/>
          <p:nvPr/>
        </p:nvSpPr>
        <p:spPr>
          <a:xfrm>
            <a:off x="594360" y="5093208"/>
            <a:ext cx="10972800" cy="557784"/>
          </a:xfrm>
          <a:prstGeom prst="rect">
            <a:avLst/>
          </a:prstGeom>
          <a:noFill/>
        </p:spPr>
        <p:txBody>
          <a:bodyPr wrap="square" lIns="0" rIns="0" tIns="0" bIns="0">
            <a:spAutoFit/>
          </a:bodyPr>
          <a:lstStyle/>
          <a:p>
            <a:pPr>
              <a:spcAft>
                <a:spcPts val="200"/>
              </a:spcAft>
              <a:defRPr sz="1800" b="0">
                <a:solidFill>
                  <a:srgbClr val="111111"/>
                </a:solidFill>
                <a:latin typeface="Arial"/>
              </a:defRPr>
            </a:pPr>
            <a:r>
              <a:t>10 models × 3 conditions × 1 task × 1 repetition = 30 planned attempts.</a:t>
            </a:r>
          </a:p>
          <a:p>
            <a:pPr>
              <a:spcAft>
                <a:spcPts val="200"/>
              </a:spcAft>
              <a:defRPr sz="1800" b="0">
                <a:solidFill>
                  <a:srgbClr val="111111"/>
                </a:solidFill>
                <a:latin typeface="Arial"/>
              </a:defRPr>
            </a:pPr>
            <a:r>
              <a:t>The panel spans frontier models and open-weight models from 1B to 9B.</a:t>
            </a:r>
          </a:p>
        </p:txBody>
      </p:sp>
      <p:sp>
        <p:nvSpPr>
          <p:cNvPr id="10" name="TextBox 9"/>
          <p:cNvSpPr txBox="1"/>
          <p:nvPr/>
        </p:nvSpPr>
        <p:spPr>
          <a:xfrm>
            <a:off x="594360" y="5861304"/>
            <a:ext cx="10972800" cy="301752"/>
          </a:xfrm>
          <a:prstGeom prst="rect">
            <a:avLst/>
          </a:prstGeom>
          <a:noFill/>
        </p:spPr>
        <p:txBody>
          <a:bodyPr wrap="square" lIns="0" rIns="0" tIns="0" bIns="0">
            <a:spAutoFit/>
          </a:bodyPr>
          <a:lstStyle/>
          <a:p>
            <a:pPr>
              <a:spcAft>
                <a:spcPts val="200"/>
              </a:spcAft>
              <a:defRPr sz="1500" b="0">
                <a:solidFill>
                  <a:srgbClr val="666666"/>
                </a:solidFill>
                <a:latin typeface="Arial"/>
              </a:defRPr>
            </a:pPr>
            <a:r>
              <a:t>Astra is excluded because it helped develop the benchmark. Earlier runs remain archived.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274320"/>
            <a:ext cx="10058400" cy="201168"/>
          </a:xfrm>
          <a:prstGeom prst="rect">
            <a:avLst/>
          </a:prstGeom>
          <a:noFill/>
        </p:spPr>
        <p:txBody>
          <a:bodyPr wrap="square" lIns="0" rIns="0" tIns="0" bIns="0">
            <a:spAutoFit/>
          </a:bodyPr>
          <a:lstStyle/>
          <a:p>
            <a:pPr>
              <a:spcAft>
                <a:spcPts val="200"/>
              </a:spcAft>
              <a:defRPr sz="1000" b="1">
                <a:solidFill>
                  <a:srgbClr val="666666"/>
                </a:solidFill>
                <a:latin typeface="Arial"/>
              </a:defRPr>
            </a:pPr>
            <a:r>
              <a:t>WEATHER AGENT BENCHMARK</a:t>
            </a:r>
          </a:p>
        </p:txBody>
      </p:sp>
      <p:sp>
        <p:nvSpPr>
          <p:cNvPr id="3" name="TextBox 2"/>
          <p:cNvSpPr txBox="1"/>
          <p:nvPr/>
        </p:nvSpPr>
        <p:spPr>
          <a:xfrm>
            <a:off x="530352" y="740664"/>
            <a:ext cx="11064240" cy="749808"/>
          </a:xfrm>
          <a:prstGeom prst="rect">
            <a:avLst/>
          </a:prstGeom>
          <a:noFill/>
        </p:spPr>
        <p:txBody>
          <a:bodyPr wrap="square" lIns="0" rIns="0" tIns="0" bIns="0">
            <a:spAutoFit/>
          </a:bodyPr>
          <a:lstStyle/>
          <a:p>
            <a:pPr>
              <a:spcAft>
                <a:spcPts val="200"/>
              </a:spcAft>
              <a:defRPr sz="3000" b="1">
                <a:solidFill>
                  <a:srgbClr val="111111"/>
                </a:solidFill>
                <a:latin typeface="Arial"/>
              </a:defRPr>
            </a:pPr>
            <a:r>
              <a:t>Current task: a two-week heat outlook for Kenya</a:t>
            </a:r>
          </a:p>
        </p:txBody>
      </p:sp>
      <p:cxnSp>
        <p:nvCxnSpPr>
          <p:cNvPr id="4" name="Connector 3"/>
          <p:cNvCxnSpPr/>
          <p:nvPr/>
        </p:nvCxnSpPr>
        <p:spPr>
          <a:xfrm>
            <a:off x="530352" y="6382512"/>
            <a:ext cx="11128248" cy="0"/>
          </a:xfrm>
          <a:prstGeom prst="line">
            <a:avLst/>
          </a:prstGeom>
          <a:ln w="12700">
            <a:solidFill>
              <a:srgbClr val="D1D1D1"/>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0352" y="6492240"/>
            <a:ext cx="10424160" cy="182880"/>
          </a:xfrm>
          <a:prstGeom prst="rect">
            <a:avLst/>
          </a:prstGeom>
          <a:noFill/>
        </p:spPr>
        <p:txBody>
          <a:bodyPr wrap="square" lIns="0" rIns="0" tIns="0" bIns="0">
            <a:spAutoFit/>
          </a:bodyPr>
          <a:lstStyle/>
          <a:p>
            <a:pPr>
              <a:spcAft>
                <a:spcPts val="200"/>
              </a:spcAft>
              <a:defRPr sz="1000" b="0">
                <a:solidFill>
                  <a:srgbClr val="666666"/>
                </a:solidFill>
                <a:latin typeface="Arial"/>
              </a:defRPr>
            </a:pPr>
            <a:r>
              <a:t>Weather Skills Benchmark  /  Research design and current pilot</a:t>
            </a:r>
          </a:p>
        </p:txBody>
      </p:sp>
      <p:sp>
        <p:nvSpPr>
          <p:cNvPr id="6" name="TextBox 5"/>
          <p:cNvSpPr txBox="1"/>
          <p:nvPr/>
        </p:nvSpPr>
        <p:spPr>
          <a:xfrm>
            <a:off x="11155680" y="6473952"/>
            <a:ext cx="502920" cy="210312"/>
          </a:xfrm>
          <a:prstGeom prst="rect">
            <a:avLst/>
          </a:prstGeom>
          <a:noFill/>
        </p:spPr>
        <p:txBody>
          <a:bodyPr wrap="square" lIns="0" rIns="0" tIns="0" bIns="0">
            <a:spAutoFit/>
          </a:bodyPr>
          <a:lstStyle/>
          <a:p>
            <a:pPr algn="r">
              <a:spcAft>
                <a:spcPts val="200"/>
              </a:spcAft>
              <a:defRPr sz="1000" b="0">
                <a:solidFill>
                  <a:srgbClr val="666666"/>
                </a:solidFill>
                <a:latin typeface="Arial"/>
              </a:defRPr>
            </a:pPr>
            <a:r>
              <a:t>04</a:t>
            </a:r>
          </a:p>
        </p:txBody>
      </p:sp>
      <p:sp>
        <p:nvSpPr>
          <p:cNvPr id="7" name="TextBox 6"/>
          <p:cNvSpPr txBox="1"/>
          <p:nvPr/>
        </p:nvSpPr>
        <p:spPr>
          <a:xfrm>
            <a:off x="594360" y="1581912"/>
            <a:ext cx="10972800" cy="621792"/>
          </a:xfrm>
          <a:prstGeom prst="rect">
            <a:avLst/>
          </a:prstGeom>
          <a:noFill/>
        </p:spPr>
        <p:txBody>
          <a:bodyPr wrap="square" lIns="0" rIns="0" tIns="0" bIns="0">
            <a:spAutoFit/>
          </a:bodyPr>
          <a:lstStyle/>
          <a:p>
            <a:pPr>
              <a:spcAft>
                <a:spcPts val="200"/>
              </a:spcAft>
              <a:defRPr sz="2200" b="0">
                <a:solidFill>
                  <a:srgbClr val="111111"/>
                </a:solidFill>
                <a:latin typeface="Arial"/>
              </a:defRPr>
            </a:pPr>
            <a:r>
              <a:t>Use a frozen ECMWF S2S forecast to summarize the hottest daily regional-mean 2 m temperature in each week, including ensemble uncertainty.</a:t>
            </a:r>
          </a:p>
        </p:txBody>
      </p:sp>
      <p:sp>
        <p:nvSpPr>
          <p:cNvPr id="8" name="Rectangle 7"/>
          <p:cNvSpPr/>
          <p:nvPr/>
        </p:nvSpPr>
        <p:spPr>
          <a:xfrm>
            <a:off x="594360" y="2560320"/>
            <a:ext cx="2551176" cy="1609344"/>
          </a:xfrm>
          <a:prstGeom prst="rect">
            <a:avLst/>
          </a:prstGeom>
          <a:solidFill>
            <a:srgbClr val="FFFFFF"/>
          </a:solidFill>
          <a:ln w="1270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8952" y="2697479"/>
            <a:ext cx="2221992" cy="393192"/>
          </a:xfrm>
          <a:prstGeom prst="rect">
            <a:avLst/>
          </a:prstGeom>
          <a:noFill/>
        </p:spPr>
        <p:txBody>
          <a:bodyPr wrap="square" lIns="0" rIns="0" tIns="0" bIns="0">
            <a:spAutoFit/>
          </a:bodyPr>
          <a:lstStyle/>
          <a:p>
            <a:pPr>
              <a:spcAft>
                <a:spcPts val="200"/>
              </a:spcAft>
              <a:defRPr sz="1800" b="1">
                <a:solidFill>
                  <a:srgbClr val="111111"/>
                </a:solidFill>
                <a:latin typeface="Arial"/>
              </a:defRPr>
            </a:pPr>
            <a:r>
              <a:t>1  Select</a:t>
            </a:r>
          </a:p>
        </p:txBody>
      </p:sp>
      <p:sp>
        <p:nvSpPr>
          <p:cNvPr id="10" name="TextBox 9"/>
          <p:cNvSpPr txBox="1"/>
          <p:nvPr/>
        </p:nvSpPr>
        <p:spPr>
          <a:xfrm>
            <a:off x="758952" y="3154679"/>
            <a:ext cx="2221992" cy="923544"/>
          </a:xfrm>
          <a:prstGeom prst="rect">
            <a:avLst/>
          </a:prstGeom>
          <a:noFill/>
        </p:spPr>
        <p:txBody>
          <a:bodyPr wrap="square" lIns="0" rIns="0" tIns="0" bIns="0">
            <a:spAutoFit/>
          </a:bodyPr>
          <a:lstStyle/>
          <a:p>
            <a:pPr>
              <a:spcAft>
                <a:spcPts val="200"/>
              </a:spcAft>
              <a:defRPr sz="1700" b="0">
                <a:solidFill>
                  <a:srgbClr val="111111"/>
                </a:solidFill>
                <a:latin typeface="Arial"/>
              </a:defRPr>
            </a:pPr>
            <a:r>
              <a:t>Service rectangle</a:t>
            </a:r>
          </a:p>
          <a:p>
            <a:pPr>
              <a:spcAft>
                <a:spcPts val="200"/>
              </a:spcAft>
              <a:defRPr sz="1700" b="0">
                <a:solidFill>
                  <a:srgbClr val="111111"/>
                </a:solidFill>
                <a:latin typeface="Arial"/>
              </a:defRPr>
            </a:pPr>
            <a:r>
              <a:t>5°N–5°S, 34°E–42°E</a:t>
            </a:r>
          </a:p>
        </p:txBody>
      </p:sp>
      <p:sp>
        <p:nvSpPr>
          <p:cNvPr id="11" name="Right Arrow 10"/>
          <p:cNvSpPr/>
          <p:nvPr/>
        </p:nvSpPr>
        <p:spPr>
          <a:xfrm>
            <a:off x="3191256" y="3300984"/>
            <a:ext cx="146304" cy="109728"/>
          </a:xfrm>
          <a:prstGeom prst="rightArrow">
            <a:avLst/>
          </a:prstGeom>
          <a:solidFill>
            <a:srgbClr val="11111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3374136" y="2560320"/>
            <a:ext cx="2551176" cy="1609344"/>
          </a:xfrm>
          <a:prstGeom prst="rect">
            <a:avLst/>
          </a:prstGeom>
          <a:solidFill>
            <a:srgbClr val="FFFFFF"/>
          </a:solidFill>
          <a:ln w="1270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3538728" y="2697479"/>
            <a:ext cx="2221992" cy="393192"/>
          </a:xfrm>
          <a:prstGeom prst="rect">
            <a:avLst/>
          </a:prstGeom>
          <a:noFill/>
        </p:spPr>
        <p:txBody>
          <a:bodyPr wrap="square" lIns="0" rIns="0" tIns="0" bIns="0">
            <a:spAutoFit/>
          </a:bodyPr>
          <a:lstStyle/>
          <a:p>
            <a:pPr>
              <a:spcAft>
                <a:spcPts val="200"/>
              </a:spcAft>
              <a:defRPr sz="1800" b="1">
                <a:solidFill>
                  <a:srgbClr val="111111"/>
                </a:solidFill>
                <a:latin typeface="Arial"/>
              </a:defRPr>
            </a:pPr>
            <a:r>
              <a:t>2  Spatial mean</a:t>
            </a:r>
          </a:p>
        </p:txBody>
      </p:sp>
      <p:sp>
        <p:nvSpPr>
          <p:cNvPr id="14" name="TextBox 13"/>
          <p:cNvSpPr txBox="1"/>
          <p:nvPr/>
        </p:nvSpPr>
        <p:spPr>
          <a:xfrm>
            <a:off x="3538728" y="3154679"/>
            <a:ext cx="2221992" cy="923544"/>
          </a:xfrm>
          <a:prstGeom prst="rect">
            <a:avLst/>
          </a:prstGeom>
          <a:noFill/>
        </p:spPr>
        <p:txBody>
          <a:bodyPr wrap="square" lIns="0" rIns="0" tIns="0" bIns="0">
            <a:spAutoFit/>
          </a:bodyPr>
          <a:lstStyle/>
          <a:p>
            <a:pPr>
              <a:spcAft>
                <a:spcPts val="200"/>
              </a:spcAft>
              <a:defRPr sz="1700" b="0">
                <a:solidFill>
                  <a:srgbClr val="111111"/>
                </a:solidFill>
                <a:latin typeface="Arial"/>
              </a:defRPr>
            </a:pPr>
            <a:r>
              <a:t>Cosine-latitude weights</a:t>
            </a:r>
          </a:p>
          <a:p>
            <a:pPr>
              <a:spcAft>
                <a:spcPts val="200"/>
              </a:spcAft>
              <a:defRPr sz="1700" b="0">
                <a:solidFill>
                  <a:srgbClr val="111111"/>
                </a:solidFill>
                <a:latin typeface="Arial"/>
              </a:defRPr>
            </a:pPr>
            <a:r>
              <a:t>Per member and day</a:t>
            </a:r>
          </a:p>
        </p:txBody>
      </p:sp>
      <p:sp>
        <p:nvSpPr>
          <p:cNvPr id="15" name="Right Arrow 14"/>
          <p:cNvSpPr/>
          <p:nvPr/>
        </p:nvSpPr>
        <p:spPr>
          <a:xfrm>
            <a:off x="5971031" y="3300984"/>
            <a:ext cx="146304" cy="109728"/>
          </a:xfrm>
          <a:prstGeom prst="rightArrow">
            <a:avLst/>
          </a:prstGeom>
          <a:solidFill>
            <a:srgbClr val="11111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6153912" y="2560320"/>
            <a:ext cx="2551176" cy="1609344"/>
          </a:xfrm>
          <a:prstGeom prst="rect">
            <a:avLst/>
          </a:prstGeom>
          <a:solidFill>
            <a:srgbClr val="FFFFFF"/>
          </a:solidFill>
          <a:ln w="1270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318504" y="2697479"/>
            <a:ext cx="2221992" cy="393192"/>
          </a:xfrm>
          <a:prstGeom prst="rect">
            <a:avLst/>
          </a:prstGeom>
          <a:noFill/>
        </p:spPr>
        <p:txBody>
          <a:bodyPr wrap="square" lIns="0" rIns="0" tIns="0" bIns="0">
            <a:spAutoFit/>
          </a:bodyPr>
          <a:lstStyle/>
          <a:p>
            <a:pPr>
              <a:spcAft>
                <a:spcPts val="200"/>
              </a:spcAft>
              <a:defRPr sz="1800" b="1">
                <a:solidFill>
                  <a:srgbClr val="111111"/>
                </a:solidFill>
                <a:latin typeface="Arial"/>
              </a:defRPr>
            </a:pPr>
            <a:r>
              <a:t>3  Weekly peak</a:t>
            </a:r>
          </a:p>
        </p:txBody>
      </p:sp>
      <p:sp>
        <p:nvSpPr>
          <p:cNvPr id="18" name="TextBox 17"/>
          <p:cNvSpPr txBox="1"/>
          <p:nvPr/>
        </p:nvSpPr>
        <p:spPr>
          <a:xfrm>
            <a:off x="6318504" y="3154679"/>
            <a:ext cx="2221992" cy="923544"/>
          </a:xfrm>
          <a:prstGeom prst="rect">
            <a:avLst/>
          </a:prstGeom>
          <a:noFill/>
        </p:spPr>
        <p:txBody>
          <a:bodyPr wrap="square" lIns="0" rIns="0" tIns="0" bIns="0">
            <a:spAutoFit/>
          </a:bodyPr>
          <a:lstStyle/>
          <a:p>
            <a:pPr>
              <a:spcAft>
                <a:spcPts val="200"/>
              </a:spcAft>
              <a:defRPr sz="1700" b="0">
                <a:solidFill>
                  <a:srgbClr val="111111"/>
                </a:solidFill>
                <a:latin typeface="Arial"/>
              </a:defRPr>
            </a:pPr>
            <a:r>
              <a:t>Days 1–7 and 8–14</a:t>
            </a:r>
          </a:p>
          <a:p>
            <a:pPr>
              <a:spcAft>
                <a:spcPts val="200"/>
              </a:spcAft>
              <a:defRPr sz="1700" b="0">
                <a:solidFill>
                  <a:srgbClr val="111111"/>
                </a:solidFill>
                <a:latin typeface="Arial"/>
              </a:defRPr>
            </a:pPr>
            <a:r>
              <a:t>For each member</a:t>
            </a:r>
          </a:p>
        </p:txBody>
      </p:sp>
      <p:sp>
        <p:nvSpPr>
          <p:cNvPr id="19" name="Right Arrow 18"/>
          <p:cNvSpPr/>
          <p:nvPr/>
        </p:nvSpPr>
        <p:spPr>
          <a:xfrm>
            <a:off x="8750808" y="3300984"/>
            <a:ext cx="146304" cy="109728"/>
          </a:xfrm>
          <a:prstGeom prst="rightArrow">
            <a:avLst/>
          </a:prstGeom>
          <a:solidFill>
            <a:srgbClr val="11111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8933688" y="2560320"/>
            <a:ext cx="2551176" cy="1609344"/>
          </a:xfrm>
          <a:prstGeom prst="rect">
            <a:avLst/>
          </a:prstGeom>
          <a:solidFill>
            <a:srgbClr val="FFFFFF"/>
          </a:solidFill>
          <a:ln w="1270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9098280" y="2697479"/>
            <a:ext cx="2221992" cy="393192"/>
          </a:xfrm>
          <a:prstGeom prst="rect">
            <a:avLst/>
          </a:prstGeom>
          <a:noFill/>
        </p:spPr>
        <p:txBody>
          <a:bodyPr wrap="square" lIns="0" rIns="0" tIns="0" bIns="0">
            <a:spAutoFit/>
          </a:bodyPr>
          <a:lstStyle/>
          <a:p>
            <a:pPr>
              <a:spcAft>
                <a:spcPts val="200"/>
              </a:spcAft>
              <a:defRPr sz="1800" b="1">
                <a:solidFill>
                  <a:srgbClr val="111111"/>
                </a:solidFill>
                <a:latin typeface="Arial"/>
              </a:defRPr>
            </a:pPr>
            <a:r>
              <a:t>4  Ensemble</a:t>
            </a:r>
          </a:p>
        </p:txBody>
      </p:sp>
      <p:sp>
        <p:nvSpPr>
          <p:cNvPr id="22" name="TextBox 21"/>
          <p:cNvSpPr txBox="1"/>
          <p:nvPr/>
        </p:nvSpPr>
        <p:spPr>
          <a:xfrm>
            <a:off x="9098280" y="3154679"/>
            <a:ext cx="2221992" cy="923544"/>
          </a:xfrm>
          <a:prstGeom prst="rect">
            <a:avLst/>
          </a:prstGeom>
          <a:noFill/>
        </p:spPr>
        <p:txBody>
          <a:bodyPr wrap="square" lIns="0" rIns="0" tIns="0" bIns="0">
            <a:spAutoFit/>
          </a:bodyPr>
          <a:lstStyle/>
          <a:p>
            <a:pPr>
              <a:spcAft>
                <a:spcPts val="200"/>
              </a:spcAft>
              <a:defRPr sz="1700" b="0">
                <a:solidFill>
                  <a:srgbClr val="111111"/>
                </a:solidFill>
                <a:latin typeface="Arial"/>
              </a:defRPr>
            </a:pPr>
            <a:r>
              <a:t>Median, sample SD,</a:t>
            </a:r>
          </a:p>
          <a:p>
            <a:pPr>
              <a:spcAft>
                <a:spcPts val="200"/>
              </a:spcAft>
              <a:defRPr sz="1700" b="0">
                <a:solidFill>
                  <a:srgbClr val="111111"/>
                </a:solidFill>
                <a:latin typeface="Arial"/>
              </a:defRPr>
            </a:pPr>
            <a:r>
              <a:t>minimum, maximum</a:t>
            </a:r>
          </a:p>
        </p:txBody>
      </p:sp>
      <p:sp>
        <p:nvSpPr>
          <p:cNvPr id="23" name="TextBox 22"/>
          <p:cNvSpPr txBox="1"/>
          <p:nvPr/>
        </p:nvSpPr>
        <p:spPr>
          <a:xfrm>
            <a:off x="594360" y="4462272"/>
            <a:ext cx="10972800" cy="393192"/>
          </a:xfrm>
          <a:prstGeom prst="rect">
            <a:avLst/>
          </a:prstGeom>
          <a:noFill/>
        </p:spPr>
        <p:txBody>
          <a:bodyPr wrap="square" lIns="0" rIns="0" tIns="0" bIns="0">
            <a:spAutoFit/>
          </a:bodyPr>
          <a:lstStyle/>
          <a:p>
            <a:pPr>
              <a:spcAft>
                <a:spcPts val="200"/>
              </a:spcAft>
              <a:defRPr sz="2000" b="1">
                <a:solidFill>
                  <a:srgbClr val="111111"/>
                </a:solidFill>
                <a:latin typeface="Arial"/>
              </a:defRPr>
            </a:pPr>
            <a:r>
              <a:t>Required order: spatial mean → weekly peak per member → ensemble statistics.</a:t>
            </a:r>
          </a:p>
        </p:txBody>
      </p:sp>
      <p:sp>
        <p:nvSpPr>
          <p:cNvPr id="24" name="TextBox 23"/>
          <p:cNvSpPr txBox="1"/>
          <p:nvPr/>
        </p:nvSpPr>
        <p:spPr>
          <a:xfrm>
            <a:off x="594360" y="5038344"/>
            <a:ext cx="5486400" cy="804672"/>
          </a:xfrm>
          <a:prstGeom prst="rect">
            <a:avLst/>
          </a:prstGeom>
          <a:noFill/>
        </p:spPr>
        <p:txBody>
          <a:bodyPr wrap="square" lIns="0" rIns="0" tIns="0" bIns="0">
            <a:spAutoFit/>
          </a:bodyPr>
          <a:lstStyle/>
          <a:p>
            <a:pPr>
              <a:spcAft>
                <a:spcPts val="200"/>
              </a:spcAft>
              <a:defRPr sz="1800" b="0">
                <a:solidFill>
                  <a:srgbClr val="111111"/>
                </a:solidFill>
                <a:latin typeface="Arial"/>
              </a:defRPr>
            </a:pPr>
            <a:r>
              <a:t>Deliverables</a:t>
            </a:r>
          </a:p>
          <a:p>
            <a:pPr>
              <a:spcAft>
                <a:spcPts val="200"/>
              </a:spcAft>
              <a:defRPr sz="1800" b="0">
                <a:solidFill>
                  <a:srgbClr val="111111"/>
                </a:solidFill>
                <a:latin typeface="Arial"/>
              </a:defRPr>
            </a:pPr>
            <a:r>
              <a:t>Structured answer, source citation, and a labeled uncertainty figure.</a:t>
            </a:r>
          </a:p>
        </p:txBody>
      </p:sp>
      <p:sp>
        <p:nvSpPr>
          <p:cNvPr id="25" name="TextBox 24"/>
          <p:cNvSpPr txBox="1"/>
          <p:nvPr/>
        </p:nvSpPr>
        <p:spPr>
          <a:xfrm>
            <a:off x="6428232" y="5038344"/>
            <a:ext cx="5138928" cy="859536"/>
          </a:xfrm>
          <a:prstGeom prst="rect">
            <a:avLst/>
          </a:prstGeom>
          <a:noFill/>
        </p:spPr>
        <p:txBody>
          <a:bodyPr wrap="square" lIns="0" rIns="0" tIns="0" bIns="0">
            <a:spAutoFit/>
          </a:bodyPr>
          <a:lstStyle/>
          <a:p>
            <a:pPr>
              <a:spcAft>
                <a:spcPts val="200"/>
              </a:spcAft>
              <a:defRPr sz="1800" b="0">
                <a:solidFill>
                  <a:srgbClr val="111111"/>
                </a:solidFill>
                <a:latin typeface="Arial"/>
              </a:defRPr>
            </a:pPr>
            <a:r>
              <a:t>Deterministic checks</a:t>
            </a:r>
          </a:p>
          <a:p>
            <a:pPr>
              <a:spcAft>
                <a:spcPts val="200"/>
              </a:spcAft>
              <a:defRPr sz="1800" b="0">
                <a:solidFill>
                  <a:srgbClr val="111111"/>
                </a:solidFill>
                <a:latin typeface="Arial"/>
              </a:defRPr>
            </a:pPr>
            <a:r>
              <a:t>Independent numeric reference; exact schema and units; valid, nonblank PNG.</a:t>
            </a:r>
          </a:p>
        </p:txBody>
      </p:sp>
      <p:sp>
        <p:nvSpPr>
          <p:cNvPr id="26" name="TextBox 25"/>
          <p:cNvSpPr txBox="1"/>
          <p:nvPr/>
        </p:nvSpPr>
        <p:spPr>
          <a:xfrm>
            <a:off x="594360" y="6025896"/>
            <a:ext cx="10972800" cy="182880"/>
          </a:xfrm>
          <a:prstGeom prst="rect">
            <a:avLst/>
          </a:prstGeom>
          <a:noFill/>
        </p:spPr>
        <p:txBody>
          <a:bodyPr wrap="square" lIns="0" rIns="0" tIns="0" bIns="0">
            <a:spAutoFit/>
          </a:bodyPr>
          <a:lstStyle/>
          <a:p>
            <a:pPr>
              <a:spcAft>
                <a:spcPts val="200"/>
              </a:spcAft>
              <a:defRPr sz="1200" b="0">
                <a:solidFill>
                  <a:srgbClr val="666666"/>
                </a:solidFill>
                <a:latin typeface="Arial"/>
              </a:defRPr>
            </a:pPr>
            <a:r>
              <a:t>Forecast issue: 2026-09-27. This tests analysis of an issued forecast, not its predictive skill against observations.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274320"/>
            <a:ext cx="10058400" cy="201168"/>
          </a:xfrm>
          <a:prstGeom prst="rect">
            <a:avLst/>
          </a:prstGeom>
          <a:noFill/>
        </p:spPr>
        <p:txBody>
          <a:bodyPr wrap="square" lIns="0" rIns="0" tIns="0" bIns="0">
            <a:spAutoFit/>
          </a:bodyPr>
          <a:lstStyle/>
          <a:p>
            <a:pPr>
              <a:spcAft>
                <a:spcPts val="200"/>
              </a:spcAft>
              <a:defRPr sz="1000" b="1">
                <a:solidFill>
                  <a:srgbClr val="666666"/>
                </a:solidFill>
                <a:latin typeface="Arial"/>
              </a:defRPr>
            </a:pPr>
            <a:r>
              <a:t>WEATHER AGENT BENCHMARK</a:t>
            </a:r>
          </a:p>
        </p:txBody>
      </p:sp>
      <p:sp>
        <p:nvSpPr>
          <p:cNvPr id="3" name="TextBox 2"/>
          <p:cNvSpPr txBox="1"/>
          <p:nvPr/>
        </p:nvSpPr>
        <p:spPr>
          <a:xfrm>
            <a:off x="530352" y="740664"/>
            <a:ext cx="11064240" cy="749808"/>
          </a:xfrm>
          <a:prstGeom prst="rect">
            <a:avLst/>
          </a:prstGeom>
          <a:noFill/>
        </p:spPr>
        <p:txBody>
          <a:bodyPr wrap="square" lIns="0" rIns="0" tIns="0" bIns="0">
            <a:spAutoFit/>
          </a:bodyPr>
          <a:lstStyle/>
          <a:p>
            <a:pPr>
              <a:spcAft>
                <a:spcPts val="200"/>
              </a:spcAft>
              <a:defRPr sz="3000" b="1">
                <a:solidFill>
                  <a:srgbClr val="111111"/>
                </a:solidFill>
                <a:latin typeface="Arial"/>
              </a:defRPr>
            </a:pPr>
            <a:r>
              <a:t>Cache the inputs; keep each attempt independent</a:t>
            </a:r>
          </a:p>
        </p:txBody>
      </p:sp>
      <p:cxnSp>
        <p:nvCxnSpPr>
          <p:cNvPr id="4" name="Connector 3"/>
          <p:cNvCxnSpPr/>
          <p:nvPr/>
        </p:nvCxnSpPr>
        <p:spPr>
          <a:xfrm>
            <a:off x="530352" y="6382512"/>
            <a:ext cx="11128248" cy="0"/>
          </a:xfrm>
          <a:prstGeom prst="line">
            <a:avLst/>
          </a:prstGeom>
          <a:ln w="12700">
            <a:solidFill>
              <a:srgbClr val="D1D1D1"/>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0352" y="6492240"/>
            <a:ext cx="10424160" cy="182880"/>
          </a:xfrm>
          <a:prstGeom prst="rect">
            <a:avLst/>
          </a:prstGeom>
          <a:noFill/>
        </p:spPr>
        <p:txBody>
          <a:bodyPr wrap="square" lIns="0" rIns="0" tIns="0" bIns="0">
            <a:spAutoFit/>
          </a:bodyPr>
          <a:lstStyle/>
          <a:p>
            <a:pPr>
              <a:spcAft>
                <a:spcPts val="200"/>
              </a:spcAft>
              <a:defRPr sz="1000" b="0">
                <a:solidFill>
                  <a:srgbClr val="666666"/>
                </a:solidFill>
                <a:latin typeface="Arial"/>
              </a:defRPr>
            </a:pPr>
            <a:r>
              <a:t>Weather Skills Benchmark  /  Research design and current pilot</a:t>
            </a:r>
          </a:p>
        </p:txBody>
      </p:sp>
      <p:sp>
        <p:nvSpPr>
          <p:cNvPr id="6" name="TextBox 5"/>
          <p:cNvSpPr txBox="1"/>
          <p:nvPr/>
        </p:nvSpPr>
        <p:spPr>
          <a:xfrm>
            <a:off x="11155680" y="6473952"/>
            <a:ext cx="502920" cy="210312"/>
          </a:xfrm>
          <a:prstGeom prst="rect">
            <a:avLst/>
          </a:prstGeom>
          <a:noFill/>
        </p:spPr>
        <p:txBody>
          <a:bodyPr wrap="square" lIns="0" rIns="0" tIns="0" bIns="0">
            <a:spAutoFit/>
          </a:bodyPr>
          <a:lstStyle/>
          <a:p>
            <a:pPr algn="r">
              <a:spcAft>
                <a:spcPts val="200"/>
              </a:spcAft>
              <a:defRPr sz="1000" b="0">
                <a:solidFill>
                  <a:srgbClr val="666666"/>
                </a:solidFill>
                <a:latin typeface="Arial"/>
              </a:defRPr>
            </a:pPr>
            <a:r>
              <a:t>05</a:t>
            </a:r>
          </a:p>
        </p:txBody>
      </p:sp>
      <p:sp>
        <p:nvSpPr>
          <p:cNvPr id="7" name="Rectangle 6"/>
          <p:cNvSpPr/>
          <p:nvPr/>
        </p:nvSpPr>
        <p:spPr>
          <a:xfrm>
            <a:off x="594360" y="1920240"/>
            <a:ext cx="2971800" cy="2066543"/>
          </a:xfrm>
          <a:prstGeom prst="rect">
            <a:avLst/>
          </a:prstGeom>
          <a:solidFill>
            <a:srgbClr val="FFFFFF"/>
          </a:solidFill>
          <a:ln w="1270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58952" y="2057400"/>
            <a:ext cx="2642616" cy="393192"/>
          </a:xfrm>
          <a:prstGeom prst="rect">
            <a:avLst/>
          </a:prstGeom>
          <a:noFill/>
        </p:spPr>
        <p:txBody>
          <a:bodyPr wrap="square" lIns="0" rIns="0" tIns="0" bIns="0">
            <a:spAutoFit/>
          </a:bodyPr>
          <a:lstStyle/>
          <a:p>
            <a:pPr>
              <a:spcAft>
                <a:spcPts val="200"/>
              </a:spcAft>
              <a:defRPr sz="1800" b="1">
                <a:solidFill>
                  <a:srgbClr val="111111"/>
                </a:solidFill>
                <a:latin typeface="Arial"/>
              </a:defRPr>
            </a:pPr>
            <a:r>
              <a:t>Raw forecast archive</a:t>
            </a:r>
          </a:p>
        </p:txBody>
      </p:sp>
      <p:sp>
        <p:nvSpPr>
          <p:cNvPr id="9" name="TextBox 8"/>
          <p:cNvSpPr txBox="1"/>
          <p:nvPr/>
        </p:nvSpPr>
        <p:spPr>
          <a:xfrm>
            <a:off x="758952" y="2514600"/>
            <a:ext cx="2642616" cy="1380743"/>
          </a:xfrm>
          <a:prstGeom prst="rect">
            <a:avLst/>
          </a:prstGeom>
          <a:noFill/>
        </p:spPr>
        <p:txBody>
          <a:bodyPr wrap="square" lIns="0" rIns="0" tIns="0" bIns="0">
            <a:spAutoFit/>
          </a:bodyPr>
          <a:lstStyle/>
          <a:p>
            <a:pPr>
              <a:spcAft>
                <a:spcPts val="200"/>
              </a:spcAft>
              <a:defRPr sz="1700" b="0">
                <a:solidFill>
                  <a:srgbClr val="111111"/>
                </a:solidFill>
                <a:latin typeface="Arial"/>
              </a:defRPr>
            </a:pPr>
            <a:r>
              <a:t>Real raw forecast bytes</a:t>
            </a:r>
          </a:p>
          <a:p>
            <a:pPr>
              <a:spcAft>
                <a:spcPts val="200"/>
              </a:spcAft>
              <a:defRPr sz="1700" b="0">
                <a:solidFill>
                  <a:srgbClr val="111111"/>
                </a:solidFill>
                <a:latin typeface="Arial"/>
              </a:defRPr>
            </a:pPr>
            <a:r>
              <a:t>Verified by content hashes</a:t>
            </a:r>
          </a:p>
          <a:p>
            <a:pPr>
              <a:spcAft>
                <a:spcPts val="200"/>
              </a:spcAft>
              <a:defRPr sz="1700" b="0">
                <a:solidFill>
                  <a:srgbClr val="111111"/>
                </a:solidFill>
                <a:latin typeface="Arial"/>
              </a:defRPr>
            </a:pPr>
            <a:r>
              <a:t>Mounted read-only</a:t>
            </a:r>
          </a:p>
        </p:txBody>
      </p:sp>
      <p:cxnSp>
        <p:nvCxnSpPr>
          <p:cNvPr id="10" name="Connector 9"/>
          <p:cNvCxnSpPr/>
          <p:nvPr/>
        </p:nvCxnSpPr>
        <p:spPr>
          <a:xfrm>
            <a:off x="3730752" y="2953512"/>
            <a:ext cx="365760" cy="0"/>
          </a:xfrm>
          <a:prstGeom prst="line">
            <a:avLst/>
          </a:prstGeom>
          <a:ln w="12700">
            <a:solidFill>
              <a:srgbClr val="111111"/>
            </a:solidFill>
          </a:ln>
        </p:spPr>
        <p:style>
          <a:lnRef idx="2">
            <a:schemeClr val="accent1"/>
          </a:lnRef>
          <a:fillRef idx="0">
            <a:schemeClr val="accent1"/>
          </a:fillRef>
          <a:effectRef idx="0">
            <a:schemeClr val="accent1"/>
          </a:effectRef>
          <a:fontRef idx="minor">
            <a:schemeClr val="tx1"/>
          </a:fontRef>
        </p:style>
      </p:cxnSp>
      <p:cxnSp>
        <p:nvCxnSpPr>
          <p:cNvPr id="11" name="Connector 10"/>
          <p:cNvCxnSpPr/>
          <p:nvPr/>
        </p:nvCxnSpPr>
        <p:spPr>
          <a:xfrm flipV="1">
            <a:off x="4096512" y="2176272"/>
            <a:ext cx="0" cy="777240"/>
          </a:xfrm>
          <a:prstGeom prst="line">
            <a:avLst/>
          </a:prstGeom>
          <a:ln w="12700">
            <a:solidFill>
              <a:srgbClr val="111111"/>
            </a:solidFill>
          </a:ln>
        </p:spPr>
        <p:style>
          <a:lnRef idx="2">
            <a:schemeClr val="accent1"/>
          </a:lnRef>
          <a:fillRef idx="0">
            <a:schemeClr val="accent1"/>
          </a:fillRef>
          <a:effectRef idx="0">
            <a:schemeClr val="accent1"/>
          </a:effectRef>
          <a:fontRef idx="minor">
            <a:schemeClr val="tx1"/>
          </a:fontRef>
        </p:style>
      </p:cxnSp>
      <p:sp>
        <p:nvSpPr>
          <p:cNvPr id="12" name="Right Arrow 11"/>
          <p:cNvSpPr/>
          <p:nvPr/>
        </p:nvSpPr>
        <p:spPr>
          <a:xfrm>
            <a:off x="4123944" y="2103120"/>
            <a:ext cx="365760" cy="155448"/>
          </a:xfrm>
          <a:prstGeom prst="rightArrow">
            <a:avLst/>
          </a:prstGeom>
          <a:solidFill>
            <a:srgbClr val="11111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3" name="Connector 12"/>
          <p:cNvCxnSpPr/>
          <p:nvPr/>
        </p:nvCxnSpPr>
        <p:spPr>
          <a:xfrm>
            <a:off x="3730752" y="2953512"/>
            <a:ext cx="365760" cy="0"/>
          </a:xfrm>
          <a:prstGeom prst="line">
            <a:avLst/>
          </a:prstGeom>
          <a:ln w="12700">
            <a:solidFill>
              <a:srgbClr val="111111"/>
            </a:solidFill>
          </a:ln>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4096512" y="2953512"/>
            <a:ext cx="0" cy="164591"/>
          </a:xfrm>
          <a:prstGeom prst="line">
            <a:avLst/>
          </a:prstGeom>
          <a:ln w="12700">
            <a:solidFill>
              <a:srgbClr val="111111"/>
            </a:solidFill>
          </a:ln>
        </p:spPr>
        <p:style>
          <a:lnRef idx="2">
            <a:schemeClr val="accent1"/>
          </a:lnRef>
          <a:fillRef idx="0">
            <a:schemeClr val="accent1"/>
          </a:fillRef>
          <a:effectRef idx="0">
            <a:schemeClr val="accent1"/>
          </a:effectRef>
          <a:fontRef idx="minor">
            <a:schemeClr val="tx1"/>
          </a:fontRef>
        </p:style>
      </p:cxnSp>
      <p:sp>
        <p:nvSpPr>
          <p:cNvPr id="15" name="Right Arrow 14"/>
          <p:cNvSpPr/>
          <p:nvPr/>
        </p:nvSpPr>
        <p:spPr>
          <a:xfrm>
            <a:off x="4123944" y="3044951"/>
            <a:ext cx="365760" cy="155448"/>
          </a:xfrm>
          <a:prstGeom prst="rightArrow">
            <a:avLst/>
          </a:prstGeom>
          <a:solidFill>
            <a:srgbClr val="11111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6" name="Connector 15"/>
          <p:cNvCxnSpPr/>
          <p:nvPr/>
        </p:nvCxnSpPr>
        <p:spPr>
          <a:xfrm>
            <a:off x="3730752" y="2953512"/>
            <a:ext cx="365760" cy="0"/>
          </a:xfrm>
          <a:prstGeom prst="line">
            <a:avLst/>
          </a:prstGeom>
          <a:ln w="12700">
            <a:solidFill>
              <a:srgbClr val="111111"/>
            </a:solidFill>
          </a:ln>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4096512" y="2953512"/>
            <a:ext cx="0" cy="1106423"/>
          </a:xfrm>
          <a:prstGeom prst="line">
            <a:avLst/>
          </a:prstGeom>
          <a:ln w="12700">
            <a:solidFill>
              <a:srgbClr val="111111"/>
            </a:solidFill>
          </a:ln>
        </p:spPr>
        <p:style>
          <a:lnRef idx="2">
            <a:schemeClr val="accent1"/>
          </a:lnRef>
          <a:fillRef idx="0">
            <a:schemeClr val="accent1"/>
          </a:fillRef>
          <a:effectRef idx="0">
            <a:schemeClr val="accent1"/>
          </a:effectRef>
          <a:fontRef idx="minor">
            <a:schemeClr val="tx1"/>
          </a:fontRef>
        </p:style>
      </p:cxnSp>
      <p:sp>
        <p:nvSpPr>
          <p:cNvPr id="18" name="Right Arrow 17"/>
          <p:cNvSpPr/>
          <p:nvPr/>
        </p:nvSpPr>
        <p:spPr>
          <a:xfrm>
            <a:off x="4123944" y="3986783"/>
            <a:ext cx="365760" cy="155448"/>
          </a:xfrm>
          <a:prstGeom prst="rightArrow">
            <a:avLst/>
          </a:prstGeom>
          <a:solidFill>
            <a:srgbClr val="11111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4645152" y="1828800"/>
            <a:ext cx="6922008" cy="713232"/>
          </a:xfrm>
          <a:prstGeom prst="rect">
            <a:avLst/>
          </a:prstGeom>
          <a:solidFill>
            <a:srgbClr val="FFFFFF"/>
          </a:solidFill>
          <a:ln w="1270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809744" y="2020824"/>
            <a:ext cx="2240280" cy="338328"/>
          </a:xfrm>
          <a:prstGeom prst="rect">
            <a:avLst/>
          </a:prstGeom>
          <a:noFill/>
        </p:spPr>
        <p:txBody>
          <a:bodyPr wrap="square" lIns="0" rIns="0" tIns="0" bIns="0">
            <a:spAutoFit/>
          </a:bodyPr>
          <a:lstStyle/>
          <a:p>
            <a:pPr>
              <a:spcAft>
                <a:spcPts val="200"/>
              </a:spcAft>
              <a:defRPr sz="1800" b="1">
                <a:solidFill>
                  <a:srgbClr val="111111"/>
                </a:solidFill>
                <a:latin typeface="Arial"/>
              </a:defRPr>
            </a:pPr>
            <a:r>
              <a:t>Python only</a:t>
            </a:r>
          </a:p>
        </p:txBody>
      </p:sp>
      <p:sp>
        <p:nvSpPr>
          <p:cNvPr id="21" name="TextBox 20"/>
          <p:cNvSpPr txBox="1"/>
          <p:nvPr/>
        </p:nvSpPr>
        <p:spPr>
          <a:xfrm>
            <a:off x="7315200" y="2011680"/>
            <a:ext cx="4005072" cy="384048"/>
          </a:xfrm>
          <a:prstGeom prst="rect">
            <a:avLst/>
          </a:prstGeom>
          <a:noFill/>
        </p:spPr>
        <p:txBody>
          <a:bodyPr wrap="square" lIns="0" rIns="0" tIns="0" bIns="0">
            <a:spAutoFit/>
          </a:bodyPr>
          <a:lstStyle/>
          <a:p>
            <a:pPr>
              <a:spcAft>
                <a:spcPts val="200"/>
              </a:spcAft>
              <a:defRPr sz="1700" b="0">
                <a:solidFill>
                  <a:srgbClr val="111111"/>
                </a:solidFill>
                <a:latin typeface="Arial"/>
              </a:defRPr>
            </a:pPr>
            <a:r>
              <a:t>Fresh conversation + empty workspace</a:t>
            </a:r>
          </a:p>
        </p:txBody>
      </p:sp>
      <p:sp>
        <p:nvSpPr>
          <p:cNvPr id="22" name="Rectangle 21"/>
          <p:cNvSpPr/>
          <p:nvPr/>
        </p:nvSpPr>
        <p:spPr>
          <a:xfrm>
            <a:off x="4645152" y="2770632"/>
            <a:ext cx="6922008" cy="713232"/>
          </a:xfrm>
          <a:prstGeom prst="rect">
            <a:avLst/>
          </a:prstGeom>
          <a:solidFill>
            <a:srgbClr val="FFFFFF"/>
          </a:solidFill>
          <a:ln w="1270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809744" y="2962656"/>
            <a:ext cx="2240280" cy="338328"/>
          </a:xfrm>
          <a:prstGeom prst="rect">
            <a:avLst/>
          </a:prstGeom>
          <a:noFill/>
        </p:spPr>
        <p:txBody>
          <a:bodyPr wrap="square" lIns="0" rIns="0" tIns="0" bIns="0">
            <a:spAutoFit/>
          </a:bodyPr>
          <a:lstStyle/>
          <a:p>
            <a:pPr>
              <a:spcAft>
                <a:spcPts val="200"/>
              </a:spcAft>
              <a:defRPr sz="1800" b="1">
                <a:solidFill>
                  <a:srgbClr val="111111"/>
                </a:solidFill>
                <a:latin typeface="Arial"/>
              </a:defRPr>
            </a:pPr>
            <a:r>
              <a:t>Skills only</a:t>
            </a:r>
          </a:p>
        </p:txBody>
      </p:sp>
      <p:sp>
        <p:nvSpPr>
          <p:cNvPr id="24" name="TextBox 23"/>
          <p:cNvSpPr txBox="1"/>
          <p:nvPr/>
        </p:nvSpPr>
        <p:spPr>
          <a:xfrm>
            <a:off x="7315200" y="2953512"/>
            <a:ext cx="4005072" cy="384048"/>
          </a:xfrm>
          <a:prstGeom prst="rect">
            <a:avLst/>
          </a:prstGeom>
          <a:noFill/>
        </p:spPr>
        <p:txBody>
          <a:bodyPr wrap="square" lIns="0" rIns="0" tIns="0" bIns="0">
            <a:spAutoFit/>
          </a:bodyPr>
          <a:lstStyle/>
          <a:p>
            <a:pPr>
              <a:spcAft>
                <a:spcPts val="200"/>
              </a:spcAft>
              <a:defRPr sz="1700" b="0">
                <a:solidFill>
                  <a:srgbClr val="111111"/>
                </a:solidFill>
                <a:latin typeface="Arial"/>
              </a:defRPr>
            </a:pPr>
            <a:r>
              <a:t>Fresh conversation + empty workspace</a:t>
            </a:r>
          </a:p>
        </p:txBody>
      </p:sp>
      <p:sp>
        <p:nvSpPr>
          <p:cNvPr id="25" name="Rectangle 24"/>
          <p:cNvSpPr/>
          <p:nvPr/>
        </p:nvSpPr>
        <p:spPr>
          <a:xfrm>
            <a:off x="4645152" y="3712463"/>
            <a:ext cx="6922008" cy="713232"/>
          </a:xfrm>
          <a:prstGeom prst="rect">
            <a:avLst/>
          </a:prstGeom>
          <a:solidFill>
            <a:srgbClr val="FFFFFF"/>
          </a:solidFill>
          <a:ln w="1270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809744" y="3904487"/>
            <a:ext cx="2240280" cy="338328"/>
          </a:xfrm>
          <a:prstGeom prst="rect">
            <a:avLst/>
          </a:prstGeom>
          <a:noFill/>
        </p:spPr>
        <p:txBody>
          <a:bodyPr wrap="square" lIns="0" rIns="0" tIns="0" bIns="0">
            <a:spAutoFit/>
          </a:bodyPr>
          <a:lstStyle/>
          <a:p>
            <a:pPr>
              <a:spcAft>
                <a:spcPts val="200"/>
              </a:spcAft>
              <a:defRPr sz="1800" b="1">
                <a:solidFill>
                  <a:srgbClr val="111111"/>
                </a:solidFill>
                <a:latin typeface="Arial"/>
              </a:defRPr>
            </a:pPr>
            <a:r>
              <a:t>Python + skills</a:t>
            </a:r>
          </a:p>
        </p:txBody>
      </p:sp>
      <p:sp>
        <p:nvSpPr>
          <p:cNvPr id="27" name="TextBox 26"/>
          <p:cNvSpPr txBox="1"/>
          <p:nvPr/>
        </p:nvSpPr>
        <p:spPr>
          <a:xfrm>
            <a:off x="7315200" y="3895344"/>
            <a:ext cx="4005072" cy="384048"/>
          </a:xfrm>
          <a:prstGeom prst="rect">
            <a:avLst/>
          </a:prstGeom>
          <a:noFill/>
        </p:spPr>
        <p:txBody>
          <a:bodyPr wrap="square" lIns="0" rIns="0" tIns="0" bIns="0">
            <a:spAutoFit/>
          </a:bodyPr>
          <a:lstStyle/>
          <a:p>
            <a:pPr>
              <a:spcAft>
                <a:spcPts val="200"/>
              </a:spcAft>
              <a:defRPr sz="1700" b="0">
                <a:solidFill>
                  <a:srgbClr val="111111"/>
                </a:solidFill>
                <a:latin typeface="Arial"/>
              </a:defRPr>
            </a:pPr>
            <a:r>
              <a:t>Fresh conversation + empty workspace</a:t>
            </a:r>
          </a:p>
        </p:txBody>
      </p:sp>
      <p:sp>
        <p:nvSpPr>
          <p:cNvPr id="28" name="TextBox 27"/>
          <p:cNvSpPr txBox="1"/>
          <p:nvPr/>
        </p:nvSpPr>
        <p:spPr>
          <a:xfrm>
            <a:off x="594360" y="4690872"/>
            <a:ext cx="5230368" cy="731520"/>
          </a:xfrm>
          <a:prstGeom prst="rect">
            <a:avLst/>
          </a:prstGeom>
          <a:noFill/>
        </p:spPr>
        <p:txBody>
          <a:bodyPr wrap="square" lIns="0" rIns="0" tIns="0" bIns="0">
            <a:spAutoFit/>
          </a:bodyPr>
          <a:lstStyle/>
          <a:p>
            <a:pPr>
              <a:spcAft>
                <a:spcPts val="200"/>
              </a:spcAft>
              <a:defRPr sz="1800" b="0">
                <a:solidFill>
                  <a:srgbClr val="111111"/>
                </a:solidFill>
                <a:latin typeface="Arial"/>
              </a:defRPr>
            </a:pPr>
            <a:r>
              <a:t>Within a run</a:t>
            </a:r>
          </a:p>
          <a:p>
            <a:pPr>
              <a:spcAft>
                <a:spcPts val="200"/>
              </a:spcAft>
              <a:defRPr sz="1800" b="0">
                <a:solidFill>
                  <a:srgbClr val="111111"/>
                </a:solidFill>
                <a:latin typeface="Arial"/>
              </a:defRPr>
            </a:pPr>
            <a:r>
              <a:t>Reuse unchanged successful skill outputs; retain Python artifacts.</a:t>
            </a:r>
          </a:p>
        </p:txBody>
      </p:sp>
      <p:sp>
        <p:nvSpPr>
          <p:cNvPr id="29" name="TextBox 28"/>
          <p:cNvSpPr txBox="1"/>
          <p:nvPr/>
        </p:nvSpPr>
        <p:spPr>
          <a:xfrm>
            <a:off x="6437376" y="4690872"/>
            <a:ext cx="5129784" cy="731520"/>
          </a:xfrm>
          <a:prstGeom prst="rect">
            <a:avLst/>
          </a:prstGeom>
          <a:noFill/>
        </p:spPr>
        <p:txBody>
          <a:bodyPr wrap="square" lIns="0" rIns="0" tIns="0" bIns="0">
            <a:spAutoFit/>
          </a:bodyPr>
          <a:lstStyle/>
          <a:p>
            <a:pPr>
              <a:spcAft>
                <a:spcPts val="200"/>
              </a:spcAft>
              <a:defRPr sz="1800" b="0">
                <a:solidFill>
                  <a:srgbClr val="111111"/>
                </a:solidFill>
                <a:latin typeface="Arial"/>
              </a:defRPr>
            </a:pPr>
            <a:r>
              <a:t>Between runs</a:t>
            </a:r>
          </a:p>
          <a:p>
            <a:pPr>
              <a:spcAft>
                <a:spcPts val="200"/>
              </a:spcAft>
              <a:defRPr sz="1800" b="0">
                <a:solidFill>
                  <a:srgbClr val="111111"/>
                </a:solidFill>
                <a:latin typeface="Arial"/>
              </a:defRPr>
            </a:pPr>
            <a:r>
              <a:t>Share raw inputs only. No generated outputs, intermediate results, or history.</a:t>
            </a:r>
          </a:p>
        </p:txBody>
      </p:sp>
      <p:sp>
        <p:nvSpPr>
          <p:cNvPr id="30" name="TextBox 29"/>
          <p:cNvSpPr txBox="1"/>
          <p:nvPr/>
        </p:nvSpPr>
        <p:spPr>
          <a:xfrm>
            <a:off x="594360" y="5751576"/>
            <a:ext cx="10972800" cy="374904"/>
          </a:xfrm>
          <a:prstGeom prst="rect">
            <a:avLst/>
          </a:prstGeom>
          <a:noFill/>
        </p:spPr>
        <p:txBody>
          <a:bodyPr wrap="square" lIns="0" rIns="0" tIns="0" bIns="0">
            <a:spAutoFit/>
          </a:bodyPr>
          <a:lstStyle/>
          <a:p>
            <a:pPr>
              <a:spcAft>
                <a:spcPts val="200"/>
              </a:spcAft>
              <a:defRPr sz="1900" b="1">
                <a:solidFill>
                  <a:srgbClr val="111111"/>
                </a:solidFill>
                <a:latin typeface="Arial"/>
              </a:defRPr>
            </a:pPr>
            <a:r>
              <a:t>Equal ceilings: 24 model calls  ·  40 executions  ·  200k tokens  ·  600 seconds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274320"/>
            <a:ext cx="10058400" cy="201168"/>
          </a:xfrm>
          <a:prstGeom prst="rect">
            <a:avLst/>
          </a:prstGeom>
          <a:noFill/>
        </p:spPr>
        <p:txBody>
          <a:bodyPr wrap="square" lIns="0" rIns="0" tIns="0" bIns="0">
            <a:spAutoFit/>
          </a:bodyPr>
          <a:lstStyle/>
          <a:p>
            <a:pPr>
              <a:spcAft>
                <a:spcPts val="200"/>
              </a:spcAft>
              <a:defRPr sz="1000" b="1">
                <a:solidFill>
                  <a:srgbClr val="666666"/>
                </a:solidFill>
                <a:latin typeface="Arial"/>
              </a:defRPr>
            </a:pPr>
            <a:r>
              <a:t>WEATHER AGENT BENCHMARK</a:t>
            </a:r>
          </a:p>
        </p:txBody>
      </p:sp>
      <p:sp>
        <p:nvSpPr>
          <p:cNvPr id="3" name="TextBox 2"/>
          <p:cNvSpPr txBox="1"/>
          <p:nvPr/>
        </p:nvSpPr>
        <p:spPr>
          <a:xfrm>
            <a:off x="530352" y="740664"/>
            <a:ext cx="11064240" cy="749808"/>
          </a:xfrm>
          <a:prstGeom prst="rect">
            <a:avLst/>
          </a:prstGeom>
          <a:noFill/>
        </p:spPr>
        <p:txBody>
          <a:bodyPr wrap="square" lIns="0" rIns="0" tIns="0" bIns="0">
            <a:spAutoFit/>
          </a:bodyPr>
          <a:lstStyle/>
          <a:p>
            <a:pPr>
              <a:spcAft>
                <a:spcPts val="200"/>
              </a:spcAft>
              <a:defRPr sz="3000" b="1">
                <a:solidFill>
                  <a:srgbClr val="111111"/>
                </a:solidFill>
                <a:latin typeface="Arial"/>
              </a:defRPr>
            </a:pPr>
            <a:r>
              <a:t>Measure correctness, resource use, and failure causes</a:t>
            </a:r>
          </a:p>
        </p:txBody>
      </p:sp>
      <p:cxnSp>
        <p:nvCxnSpPr>
          <p:cNvPr id="4" name="Connector 3"/>
          <p:cNvCxnSpPr/>
          <p:nvPr/>
        </p:nvCxnSpPr>
        <p:spPr>
          <a:xfrm>
            <a:off x="530352" y="6382512"/>
            <a:ext cx="11128248" cy="0"/>
          </a:xfrm>
          <a:prstGeom prst="line">
            <a:avLst/>
          </a:prstGeom>
          <a:ln w="12700">
            <a:solidFill>
              <a:srgbClr val="D1D1D1"/>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0352" y="6492240"/>
            <a:ext cx="10424160" cy="182880"/>
          </a:xfrm>
          <a:prstGeom prst="rect">
            <a:avLst/>
          </a:prstGeom>
          <a:noFill/>
        </p:spPr>
        <p:txBody>
          <a:bodyPr wrap="square" lIns="0" rIns="0" tIns="0" bIns="0">
            <a:spAutoFit/>
          </a:bodyPr>
          <a:lstStyle/>
          <a:p>
            <a:pPr>
              <a:spcAft>
                <a:spcPts val="200"/>
              </a:spcAft>
              <a:defRPr sz="1000" b="0">
                <a:solidFill>
                  <a:srgbClr val="666666"/>
                </a:solidFill>
                <a:latin typeface="Arial"/>
              </a:defRPr>
            </a:pPr>
            <a:r>
              <a:t>Weather Skills Benchmark  /  Research design and current pilot</a:t>
            </a:r>
          </a:p>
        </p:txBody>
      </p:sp>
      <p:sp>
        <p:nvSpPr>
          <p:cNvPr id="6" name="TextBox 5"/>
          <p:cNvSpPr txBox="1"/>
          <p:nvPr/>
        </p:nvSpPr>
        <p:spPr>
          <a:xfrm>
            <a:off x="11155680" y="6473952"/>
            <a:ext cx="502920" cy="210312"/>
          </a:xfrm>
          <a:prstGeom prst="rect">
            <a:avLst/>
          </a:prstGeom>
          <a:noFill/>
        </p:spPr>
        <p:txBody>
          <a:bodyPr wrap="square" lIns="0" rIns="0" tIns="0" bIns="0">
            <a:spAutoFit/>
          </a:bodyPr>
          <a:lstStyle/>
          <a:p>
            <a:pPr algn="r">
              <a:spcAft>
                <a:spcPts val="200"/>
              </a:spcAft>
              <a:defRPr sz="1000" b="0">
                <a:solidFill>
                  <a:srgbClr val="666666"/>
                </a:solidFill>
                <a:latin typeface="Arial"/>
              </a:defRPr>
            </a:pPr>
            <a:r>
              <a:t>06</a:t>
            </a:r>
          </a:p>
        </p:txBody>
      </p:sp>
      <p:cxnSp>
        <p:nvCxnSpPr>
          <p:cNvPr id="7" name="Connector 6"/>
          <p:cNvCxnSpPr/>
          <p:nvPr/>
        </p:nvCxnSpPr>
        <p:spPr>
          <a:xfrm>
            <a:off x="594360" y="1673352"/>
            <a:ext cx="5824728" cy="0"/>
          </a:xfrm>
          <a:prstGeom prst="line">
            <a:avLst/>
          </a:prstGeom>
          <a:ln w="12700">
            <a:solidFill>
              <a:srgbClr val="D1D1D1"/>
            </a:solidFill>
          </a:ln>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94360" y="1783080"/>
            <a:ext cx="1554480" cy="566928"/>
          </a:xfrm>
          <a:prstGeom prst="rect">
            <a:avLst/>
          </a:prstGeom>
          <a:noFill/>
        </p:spPr>
        <p:txBody>
          <a:bodyPr wrap="square" lIns="0" rIns="0" tIns="0" bIns="0">
            <a:spAutoFit/>
          </a:bodyPr>
          <a:lstStyle/>
          <a:p>
            <a:pPr>
              <a:spcAft>
                <a:spcPts val="200"/>
              </a:spcAft>
              <a:defRPr sz="1800" b="1">
                <a:solidFill>
                  <a:srgbClr val="111111"/>
                </a:solidFill>
                <a:latin typeface="Arial"/>
              </a:defRPr>
            </a:pPr>
            <a:r>
              <a:t>Task success</a:t>
            </a:r>
          </a:p>
        </p:txBody>
      </p:sp>
      <p:sp>
        <p:nvSpPr>
          <p:cNvPr id="9" name="TextBox 8"/>
          <p:cNvSpPr txBox="1"/>
          <p:nvPr/>
        </p:nvSpPr>
        <p:spPr>
          <a:xfrm>
            <a:off x="2295144" y="1783080"/>
            <a:ext cx="4059936" cy="667512"/>
          </a:xfrm>
          <a:prstGeom prst="rect">
            <a:avLst/>
          </a:prstGeom>
          <a:noFill/>
        </p:spPr>
        <p:txBody>
          <a:bodyPr wrap="square" lIns="0" rIns="0" tIns="0" bIns="0">
            <a:spAutoFit/>
          </a:bodyPr>
          <a:lstStyle/>
          <a:p>
            <a:pPr>
              <a:spcAft>
                <a:spcPts val="200"/>
              </a:spcAft>
              <a:defRPr sz="1800" b="0">
                <a:solidFill>
                  <a:srgbClr val="111111"/>
                </a:solidFill>
                <a:latin typeface="Arial"/>
              </a:defRPr>
            </a:pPr>
            <a:r>
              <a:t>Numeric reference + output contract</a:t>
            </a:r>
          </a:p>
        </p:txBody>
      </p:sp>
      <p:cxnSp>
        <p:nvCxnSpPr>
          <p:cNvPr id="10" name="Connector 9"/>
          <p:cNvCxnSpPr/>
          <p:nvPr/>
        </p:nvCxnSpPr>
        <p:spPr>
          <a:xfrm>
            <a:off x="594360" y="2587752"/>
            <a:ext cx="5824728" cy="0"/>
          </a:xfrm>
          <a:prstGeom prst="line">
            <a:avLst/>
          </a:prstGeom>
          <a:ln w="12700">
            <a:solidFill>
              <a:srgbClr val="D1D1D1"/>
            </a:solidFill>
          </a:ln>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594360" y="2697480"/>
            <a:ext cx="1554480" cy="566928"/>
          </a:xfrm>
          <a:prstGeom prst="rect">
            <a:avLst/>
          </a:prstGeom>
          <a:noFill/>
        </p:spPr>
        <p:txBody>
          <a:bodyPr wrap="square" lIns="0" rIns="0" tIns="0" bIns="0">
            <a:spAutoFit/>
          </a:bodyPr>
          <a:lstStyle/>
          <a:p>
            <a:pPr>
              <a:spcAft>
                <a:spcPts val="200"/>
              </a:spcAft>
              <a:defRPr sz="1800" b="1">
                <a:solidFill>
                  <a:srgbClr val="111111"/>
                </a:solidFill>
                <a:latin typeface="Arial"/>
              </a:defRPr>
            </a:pPr>
            <a:r>
              <a:t>Workflow</a:t>
            </a:r>
          </a:p>
        </p:txBody>
      </p:sp>
      <p:sp>
        <p:nvSpPr>
          <p:cNvPr id="12" name="TextBox 11"/>
          <p:cNvSpPr txBox="1"/>
          <p:nvPr/>
        </p:nvSpPr>
        <p:spPr>
          <a:xfrm>
            <a:off x="2295144" y="2697480"/>
            <a:ext cx="4059936" cy="667512"/>
          </a:xfrm>
          <a:prstGeom prst="rect">
            <a:avLst/>
          </a:prstGeom>
          <a:noFill/>
        </p:spPr>
        <p:txBody>
          <a:bodyPr wrap="square" lIns="0" rIns="0" tIns="0" bIns="0">
            <a:spAutoFit/>
          </a:bodyPr>
          <a:lstStyle/>
          <a:p>
            <a:pPr>
              <a:spcAft>
                <a:spcPts val="200"/>
              </a:spcAft>
              <a:defRPr sz="1800" b="0">
                <a:solidFill>
                  <a:srgbClr val="111111"/>
                </a:solidFill>
                <a:latin typeface="Arial"/>
              </a:defRPr>
            </a:pPr>
            <a:r>
              <a:t>Guide reads, calls, dependency order</a:t>
            </a:r>
          </a:p>
        </p:txBody>
      </p:sp>
      <p:cxnSp>
        <p:nvCxnSpPr>
          <p:cNvPr id="13" name="Connector 12"/>
          <p:cNvCxnSpPr/>
          <p:nvPr/>
        </p:nvCxnSpPr>
        <p:spPr>
          <a:xfrm>
            <a:off x="594360" y="3502152"/>
            <a:ext cx="5824728" cy="0"/>
          </a:xfrm>
          <a:prstGeom prst="line">
            <a:avLst/>
          </a:prstGeom>
          <a:ln w="12700">
            <a:solidFill>
              <a:srgbClr val="D1D1D1"/>
            </a:solidFill>
          </a:ln>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594360" y="3611880"/>
            <a:ext cx="1554480" cy="566928"/>
          </a:xfrm>
          <a:prstGeom prst="rect">
            <a:avLst/>
          </a:prstGeom>
          <a:noFill/>
        </p:spPr>
        <p:txBody>
          <a:bodyPr wrap="square" lIns="0" rIns="0" tIns="0" bIns="0">
            <a:spAutoFit/>
          </a:bodyPr>
          <a:lstStyle/>
          <a:p>
            <a:pPr>
              <a:spcAft>
                <a:spcPts val="200"/>
              </a:spcAft>
              <a:defRPr sz="1800" b="1">
                <a:solidFill>
                  <a:srgbClr val="111111"/>
                </a:solidFill>
                <a:latin typeface="Arial"/>
              </a:defRPr>
            </a:pPr>
            <a:r>
              <a:t>Efficiency</a:t>
            </a:r>
          </a:p>
        </p:txBody>
      </p:sp>
      <p:sp>
        <p:nvSpPr>
          <p:cNvPr id="15" name="TextBox 14"/>
          <p:cNvSpPr txBox="1"/>
          <p:nvPr/>
        </p:nvSpPr>
        <p:spPr>
          <a:xfrm>
            <a:off x="2295144" y="3611880"/>
            <a:ext cx="4059936" cy="667512"/>
          </a:xfrm>
          <a:prstGeom prst="rect">
            <a:avLst/>
          </a:prstGeom>
          <a:noFill/>
        </p:spPr>
        <p:txBody>
          <a:bodyPr wrap="square" lIns="0" rIns="0" tIns="0" bIns="0">
            <a:spAutoFit/>
          </a:bodyPr>
          <a:lstStyle/>
          <a:p>
            <a:pPr>
              <a:spcAft>
                <a:spcPts val="200"/>
              </a:spcAft>
              <a:defRPr sz="1800" b="0">
                <a:solidFill>
                  <a:srgbClr val="111111"/>
                </a:solidFill>
                <a:latin typeface="Arial"/>
              </a:defRPr>
            </a:pPr>
            <a:r>
              <a:t>Tokens, cost, solve time; cost per success</a:t>
            </a:r>
          </a:p>
        </p:txBody>
      </p:sp>
      <p:cxnSp>
        <p:nvCxnSpPr>
          <p:cNvPr id="16" name="Connector 15"/>
          <p:cNvCxnSpPr/>
          <p:nvPr/>
        </p:nvCxnSpPr>
        <p:spPr>
          <a:xfrm>
            <a:off x="594360" y="4416552"/>
            <a:ext cx="5824728" cy="0"/>
          </a:xfrm>
          <a:prstGeom prst="line">
            <a:avLst/>
          </a:prstGeom>
          <a:ln w="12700">
            <a:solidFill>
              <a:srgbClr val="D1D1D1"/>
            </a:solidFill>
          </a:ln>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594360" y="4526280"/>
            <a:ext cx="1554480" cy="566928"/>
          </a:xfrm>
          <a:prstGeom prst="rect">
            <a:avLst/>
          </a:prstGeom>
          <a:noFill/>
        </p:spPr>
        <p:txBody>
          <a:bodyPr wrap="square" lIns="0" rIns="0" tIns="0" bIns="0">
            <a:spAutoFit/>
          </a:bodyPr>
          <a:lstStyle/>
          <a:p>
            <a:pPr>
              <a:spcAft>
                <a:spcPts val="200"/>
              </a:spcAft>
              <a:defRPr sz="1800" b="1">
                <a:solidFill>
                  <a:srgbClr val="111111"/>
                </a:solidFill>
                <a:latin typeface="Arial"/>
              </a:defRPr>
            </a:pPr>
            <a:r>
              <a:t>Diagnostics</a:t>
            </a:r>
          </a:p>
        </p:txBody>
      </p:sp>
      <p:sp>
        <p:nvSpPr>
          <p:cNvPr id="18" name="TextBox 17"/>
          <p:cNvSpPr txBox="1"/>
          <p:nvPr/>
        </p:nvSpPr>
        <p:spPr>
          <a:xfrm>
            <a:off x="2295144" y="4526280"/>
            <a:ext cx="4059936" cy="667512"/>
          </a:xfrm>
          <a:prstGeom prst="rect">
            <a:avLst/>
          </a:prstGeom>
          <a:noFill/>
        </p:spPr>
        <p:txBody>
          <a:bodyPr wrap="square" lIns="0" rIns="0" tIns="0" bIns="0">
            <a:spAutoFit/>
          </a:bodyPr>
          <a:lstStyle/>
          <a:p>
            <a:pPr>
              <a:spcAft>
                <a:spcPts val="200"/>
              </a:spcAft>
              <a:defRPr sz="1800" b="0">
                <a:solidFill>
                  <a:srgbClr val="111111"/>
                </a:solidFill>
                <a:latin typeface="Arial"/>
              </a:defRPr>
            </a:pPr>
            <a:r>
              <a:t>API errors, invalid actions, execution errors,</a:t>
            </a:r>
          </a:p>
          <a:p>
            <a:pPr>
              <a:spcAft>
                <a:spcPts val="200"/>
              </a:spcAft>
              <a:defRPr sz="1800" b="0">
                <a:solidFill>
                  <a:srgbClr val="111111"/>
                </a:solidFill>
                <a:latin typeface="Arial"/>
              </a:defRPr>
            </a:pPr>
            <a:r>
              <a:t>budget exhaustion, wrong results</a:t>
            </a:r>
          </a:p>
        </p:txBody>
      </p:sp>
      <p:sp>
        <p:nvSpPr>
          <p:cNvPr id="19" name="TextBox 18"/>
          <p:cNvSpPr txBox="1"/>
          <p:nvPr/>
        </p:nvSpPr>
        <p:spPr>
          <a:xfrm>
            <a:off x="6986016" y="1755648"/>
            <a:ext cx="4480560" cy="393192"/>
          </a:xfrm>
          <a:prstGeom prst="rect">
            <a:avLst/>
          </a:prstGeom>
          <a:noFill/>
        </p:spPr>
        <p:txBody>
          <a:bodyPr wrap="square" lIns="0" rIns="0" tIns="0" bIns="0">
            <a:spAutoFit/>
          </a:bodyPr>
          <a:lstStyle/>
          <a:p>
            <a:pPr>
              <a:spcAft>
                <a:spcPts val="200"/>
              </a:spcAft>
              <a:defRPr sz="2000" b="1">
                <a:solidFill>
                  <a:srgbClr val="111111"/>
                </a:solidFill>
                <a:latin typeface="Arial"/>
              </a:defRPr>
            </a:pPr>
            <a:r>
              <a:t>Where the elapsed time goes</a:t>
            </a:r>
          </a:p>
        </p:txBody>
      </p:sp>
      <p:sp>
        <p:nvSpPr>
          <p:cNvPr id="20" name="TextBox 19"/>
          <p:cNvSpPr txBox="1"/>
          <p:nvPr/>
        </p:nvSpPr>
        <p:spPr>
          <a:xfrm>
            <a:off x="6986016" y="2350008"/>
            <a:ext cx="4389120" cy="859536"/>
          </a:xfrm>
          <a:prstGeom prst="rect">
            <a:avLst/>
          </a:prstGeom>
          <a:noFill/>
        </p:spPr>
        <p:txBody>
          <a:bodyPr wrap="square" lIns="0" rIns="0" tIns="0" bIns="0">
            <a:spAutoFit/>
          </a:bodyPr>
          <a:lstStyle/>
          <a:p>
            <a:pPr>
              <a:spcAft>
                <a:spcPts val="200"/>
              </a:spcAft>
              <a:defRPr sz="4900" b="1">
                <a:solidFill>
                  <a:srgbClr val="2057A5"/>
                </a:solidFill>
                <a:latin typeface="Arial"/>
              </a:defRPr>
            </a:pPr>
            <a:r>
              <a:t>93%</a:t>
            </a:r>
          </a:p>
        </p:txBody>
      </p:sp>
      <p:sp>
        <p:nvSpPr>
          <p:cNvPr id="21" name="TextBox 20"/>
          <p:cNvSpPr txBox="1"/>
          <p:nvPr/>
        </p:nvSpPr>
        <p:spPr>
          <a:xfrm>
            <a:off x="6986016" y="3172968"/>
            <a:ext cx="4453128" cy="521207"/>
          </a:xfrm>
          <a:prstGeom prst="rect">
            <a:avLst/>
          </a:prstGeom>
          <a:noFill/>
        </p:spPr>
        <p:txBody>
          <a:bodyPr wrap="square" lIns="0" rIns="0" tIns="0" bIns="0">
            <a:spAutoFit/>
          </a:bodyPr>
          <a:lstStyle/>
          <a:p>
            <a:pPr>
              <a:spcAft>
                <a:spcPts val="200"/>
              </a:spcAft>
              <a:defRPr sz="1800" b="0">
                <a:solidFill>
                  <a:srgbClr val="111111"/>
                </a:solidFill>
                <a:latin typeface="Arial"/>
              </a:defRPr>
            </a:pPr>
            <a:r>
              <a:t>of recorded solve time was spent</a:t>
            </a:r>
          </a:p>
          <a:p>
            <a:pPr>
              <a:spcAft>
                <a:spcPts val="200"/>
              </a:spcAft>
              <a:defRPr sz="1800" b="0">
                <a:solidFill>
                  <a:srgbClr val="111111"/>
                </a:solidFill>
                <a:latin typeface="Arial"/>
              </a:defRPr>
            </a:pPr>
            <a:r>
              <a:t>waiting for model / API responses.</a:t>
            </a:r>
          </a:p>
        </p:txBody>
      </p:sp>
      <p:graphicFrame>
        <p:nvGraphicFramePr>
          <p:cNvPr id="22" name="Chart 21"/>
          <p:cNvGraphicFramePr>
            <a:graphicFrameLocks noGrp="1"/>
          </p:cNvGraphicFramePr>
          <p:nvPr/>
        </p:nvGraphicFramePr>
        <p:xfrm>
          <a:off x="6949440" y="3977639"/>
          <a:ext cx="4480560" cy="932688"/>
        </p:xfrm>
        <a:graphic>
          <a:graphicData uri="http://schemas.openxmlformats.org/drawingml/2006/chart">
            <c:chart xmlns:c="http://schemas.openxmlformats.org/drawingml/2006/chart" r:id="rId2"/>
          </a:graphicData>
        </a:graphic>
      </p:graphicFrame>
      <p:sp>
        <p:nvSpPr>
          <p:cNvPr id="23" name="Rectangle 22"/>
          <p:cNvSpPr/>
          <p:nvPr/>
        </p:nvSpPr>
        <p:spPr>
          <a:xfrm>
            <a:off x="6995160" y="4901184"/>
            <a:ext cx="109728" cy="109728"/>
          </a:xfrm>
          <a:prstGeom prst="rect">
            <a:avLst/>
          </a:prstGeom>
          <a:solidFill>
            <a:srgbClr val="2057A5"/>
          </a:solidFill>
          <a:ln w="12700">
            <a:solidFill>
              <a:srgbClr val="2057A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178040" y="4828032"/>
            <a:ext cx="1325880" cy="320040"/>
          </a:xfrm>
          <a:prstGeom prst="rect">
            <a:avLst/>
          </a:prstGeom>
          <a:noFill/>
        </p:spPr>
        <p:txBody>
          <a:bodyPr wrap="square" lIns="0" rIns="0" tIns="0" bIns="0">
            <a:spAutoFit/>
          </a:bodyPr>
          <a:lstStyle/>
          <a:p>
            <a:pPr>
              <a:spcAft>
                <a:spcPts val="200"/>
              </a:spcAft>
              <a:defRPr sz="1200" b="0">
                <a:solidFill>
                  <a:srgbClr val="666666"/>
                </a:solidFill>
                <a:latin typeface="Arial"/>
              </a:defRPr>
            </a:pPr>
            <a:r>
              <a:t>Model / API</a:t>
            </a:r>
          </a:p>
        </p:txBody>
      </p:sp>
      <p:sp>
        <p:nvSpPr>
          <p:cNvPr id="25" name="Rectangle 24"/>
          <p:cNvSpPr/>
          <p:nvPr/>
        </p:nvSpPr>
        <p:spPr>
          <a:xfrm>
            <a:off x="8595360" y="4901184"/>
            <a:ext cx="109728" cy="109728"/>
          </a:xfrm>
          <a:prstGeom prst="rect">
            <a:avLst/>
          </a:prstGeom>
          <a:solidFill>
            <a:srgbClr val="777777"/>
          </a:solidFill>
          <a:ln w="12700">
            <a:solidFill>
              <a:srgbClr val="77777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8778240" y="4828032"/>
            <a:ext cx="1325880" cy="320040"/>
          </a:xfrm>
          <a:prstGeom prst="rect">
            <a:avLst/>
          </a:prstGeom>
          <a:noFill/>
        </p:spPr>
        <p:txBody>
          <a:bodyPr wrap="square" lIns="0" rIns="0" tIns="0" bIns="0">
            <a:spAutoFit/>
          </a:bodyPr>
          <a:lstStyle/>
          <a:p>
            <a:pPr>
              <a:spcAft>
                <a:spcPts val="200"/>
              </a:spcAft>
              <a:defRPr sz="1200" b="0">
                <a:solidFill>
                  <a:srgbClr val="666666"/>
                </a:solidFill>
                <a:latin typeface="Arial"/>
              </a:defRPr>
            </a:pPr>
            <a:r>
              <a:t>Execution</a:t>
            </a:r>
          </a:p>
        </p:txBody>
      </p:sp>
      <p:sp>
        <p:nvSpPr>
          <p:cNvPr id="27" name="Rectangle 26"/>
          <p:cNvSpPr/>
          <p:nvPr/>
        </p:nvSpPr>
        <p:spPr>
          <a:xfrm>
            <a:off x="10058400" y="4901184"/>
            <a:ext cx="109728" cy="109728"/>
          </a:xfrm>
          <a:prstGeom prst="rect">
            <a:avLst/>
          </a:prstGeom>
          <a:solidFill>
            <a:srgbClr val="DDDDDD"/>
          </a:solidFill>
          <a:ln w="12700">
            <a:solidFill>
              <a:srgbClr val="DDDDD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241280" y="4828032"/>
            <a:ext cx="1325880" cy="320040"/>
          </a:xfrm>
          <a:prstGeom prst="rect">
            <a:avLst/>
          </a:prstGeom>
          <a:noFill/>
        </p:spPr>
        <p:txBody>
          <a:bodyPr wrap="square" lIns="0" rIns="0" tIns="0" bIns="0">
            <a:spAutoFit/>
          </a:bodyPr>
          <a:lstStyle/>
          <a:p>
            <a:pPr>
              <a:spcAft>
                <a:spcPts val="200"/>
              </a:spcAft>
              <a:defRPr sz="1200" b="0">
                <a:solidFill>
                  <a:srgbClr val="666666"/>
                </a:solidFill>
                <a:latin typeface="Arial"/>
              </a:defRPr>
            </a:pPr>
            <a:r>
              <a:t>Other</a:t>
            </a:r>
          </a:p>
        </p:txBody>
      </p:sp>
      <p:sp>
        <p:nvSpPr>
          <p:cNvPr id="29" name="TextBox 28"/>
          <p:cNvSpPr txBox="1"/>
          <p:nvPr/>
        </p:nvSpPr>
        <p:spPr>
          <a:xfrm>
            <a:off x="6986016" y="5385816"/>
            <a:ext cx="4480560" cy="521207"/>
          </a:xfrm>
          <a:prstGeom prst="rect">
            <a:avLst/>
          </a:prstGeom>
          <a:noFill/>
        </p:spPr>
        <p:txBody>
          <a:bodyPr wrap="square" lIns="0" rIns="0" tIns="0" bIns="0">
            <a:spAutoFit/>
          </a:bodyPr>
          <a:lstStyle/>
          <a:p>
            <a:pPr>
              <a:spcAft>
                <a:spcPts val="200"/>
              </a:spcAft>
              <a:defRPr sz="1500" b="0">
                <a:solidFill>
                  <a:srgbClr val="666666"/>
                </a:solidFill>
                <a:latin typeface="Arial"/>
              </a:defRPr>
            </a:pPr>
            <a:r>
              <a:t>Interim snapshot: 7/30 attempts.</a:t>
            </a:r>
          </a:p>
          <a:p>
            <a:pPr>
              <a:spcAft>
                <a:spcPts val="200"/>
              </a:spcAft>
              <a:defRPr sz="1500" b="0">
                <a:solidFill>
                  <a:srgbClr val="666666"/>
                </a:solidFill>
                <a:latin typeface="Arial"/>
              </a:defRPr>
            </a:pPr>
            <a:r>
              <a:t>Timing diagnosis, not a model ranking.</a:t>
            </a:r>
          </a:p>
        </p:txBody>
      </p:sp>
      <p:sp>
        <p:nvSpPr>
          <p:cNvPr id="30" name="TextBox 29"/>
          <p:cNvSpPr txBox="1"/>
          <p:nvPr/>
        </p:nvSpPr>
        <p:spPr>
          <a:xfrm>
            <a:off x="594360" y="5843016"/>
            <a:ext cx="6309360" cy="310896"/>
          </a:xfrm>
          <a:prstGeom prst="rect">
            <a:avLst/>
          </a:prstGeom>
          <a:noFill/>
        </p:spPr>
        <p:txBody>
          <a:bodyPr wrap="square" lIns="0" rIns="0" tIns="0" bIns="0">
            <a:spAutoFit/>
          </a:bodyPr>
          <a:lstStyle/>
          <a:p>
            <a:pPr>
              <a:spcAft>
                <a:spcPts val="200"/>
              </a:spcAft>
              <a:defRPr sz="1700" b="1">
                <a:solidFill>
                  <a:srgbClr val="111111"/>
                </a:solidFill>
                <a:latin typeface="Arial"/>
              </a:defRPr>
            </a:pPr>
            <a:r>
              <a:t>Report service availability separately from task capability.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274320"/>
            <a:ext cx="10058400" cy="201168"/>
          </a:xfrm>
          <a:prstGeom prst="rect">
            <a:avLst/>
          </a:prstGeom>
          <a:noFill/>
        </p:spPr>
        <p:txBody>
          <a:bodyPr wrap="square" lIns="0" rIns="0" tIns="0" bIns="0">
            <a:spAutoFit/>
          </a:bodyPr>
          <a:lstStyle/>
          <a:p>
            <a:pPr>
              <a:spcAft>
                <a:spcPts val="200"/>
              </a:spcAft>
              <a:defRPr sz="1000" b="1">
                <a:solidFill>
                  <a:srgbClr val="666666"/>
                </a:solidFill>
                <a:latin typeface="Arial"/>
              </a:defRPr>
            </a:pPr>
            <a:r>
              <a:t>WEATHER AGENT BENCHMARK</a:t>
            </a:r>
          </a:p>
        </p:txBody>
      </p:sp>
      <p:sp>
        <p:nvSpPr>
          <p:cNvPr id="3" name="TextBox 2"/>
          <p:cNvSpPr txBox="1"/>
          <p:nvPr/>
        </p:nvSpPr>
        <p:spPr>
          <a:xfrm>
            <a:off x="530352" y="740664"/>
            <a:ext cx="11064240" cy="749808"/>
          </a:xfrm>
          <a:prstGeom prst="rect">
            <a:avLst/>
          </a:prstGeom>
          <a:noFill/>
        </p:spPr>
        <p:txBody>
          <a:bodyPr wrap="square" lIns="0" rIns="0" tIns="0" bIns="0">
            <a:spAutoFit/>
          </a:bodyPr>
          <a:lstStyle/>
          <a:p>
            <a:pPr>
              <a:spcAft>
                <a:spcPts val="200"/>
              </a:spcAft>
              <a:defRPr sz="3000" b="1">
                <a:solidFill>
                  <a:srgbClr val="111111"/>
                </a:solidFill>
                <a:latin typeface="Arial"/>
              </a:defRPr>
            </a:pPr>
            <a:r>
              <a:t>Inspect each comparison in the dashboard</a:t>
            </a:r>
          </a:p>
        </p:txBody>
      </p:sp>
      <p:cxnSp>
        <p:nvCxnSpPr>
          <p:cNvPr id="4" name="Connector 3"/>
          <p:cNvCxnSpPr/>
          <p:nvPr/>
        </p:nvCxnSpPr>
        <p:spPr>
          <a:xfrm>
            <a:off x="530352" y="6382512"/>
            <a:ext cx="11128248" cy="0"/>
          </a:xfrm>
          <a:prstGeom prst="line">
            <a:avLst/>
          </a:prstGeom>
          <a:ln w="12700">
            <a:solidFill>
              <a:srgbClr val="D1D1D1"/>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0352" y="6492240"/>
            <a:ext cx="10424160" cy="182880"/>
          </a:xfrm>
          <a:prstGeom prst="rect">
            <a:avLst/>
          </a:prstGeom>
          <a:noFill/>
        </p:spPr>
        <p:txBody>
          <a:bodyPr wrap="square" lIns="0" rIns="0" tIns="0" bIns="0">
            <a:spAutoFit/>
          </a:bodyPr>
          <a:lstStyle/>
          <a:p>
            <a:pPr>
              <a:spcAft>
                <a:spcPts val="200"/>
              </a:spcAft>
              <a:defRPr sz="1000" b="0">
                <a:solidFill>
                  <a:srgbClr val="666666"/>
                </a:solidFill>
                <a:latin typeface="Arial"/>
              </a:defRPr>
            </a:pPr>
            <a:r>
              <a:t>Weather Skills Benchmark  /  Research design and current pilot</a:t>
            </a:r>
          </a:p>
        </p:txBody>
      </p:sp>
      <p:sp>
        <p:nvSpPr>
          <p:cNvPr id="6" name="TextBox 5"/>
          <p:cNvSpPr txBox="1"/>
          <p:nvPr/>
        </p:nvSpPr>
        <p:spPr>
          <a:xfrm>
            <a:off x="11155680" y="6473952"/>
            <a:ext cx="502920" cy="210312"/>
          </a:xfrm>
          <a:prstGeom prst="rect">
            <a:avLst/>
          </a:prstGeom>
          <a:noFill/>
        </p:spPr>
        <p:txBody>
          <a:bodyPr wrap="square" lIns="0" rIns="0" tIns="0" bIns="0">
            <a:spAutoFit/>
          </a:bodyPr>
          <a:lstStyle/>
          <a:p>
            <a:pPr algn="r">
              <a:spcAft>
                <a:spcPts val="200"/>
              </a:spcAft>
              <a:defRPr sz="1000" b="0">
                <a:solidFill>
                  <a:srgbClr val="666666"/>
                </a:solidFill>
                <a:latin typeface="Arial"/>
              </a:defRPr>
            </a:pPr>
            <a:r>
              <a:t>07</a:t>
            </a:r>
          </a:p>
        </p:txBody>
      </p:sp>
      <p:sp>
        <p:nvSpPr>
          <p:cNvPr id="7" name="TextBox 6"/>
          <p:cNvSpPr txBox="1"/>
          <p:nvPr/>
        </p:nvSpPr>
        <p:spPr>
          <a:xfrm>
            <a:off x="594360" y="1572768"/>
            <a:ext cx="10972800" cy="493776"/>
          </a:xfrm>
          <a:prstGeom prst="rect">
            <a:avLst/>
          </a:prstGeom>
          <a:noFill/>
        </p:spPr>
        <p:txBody>
          <a:bodyPr wrap="square" lIns="0" rIns="0" tIns="0" bIns="0">
            <a:spAutoFit/>
          </a:bodyPr>
          <a:lstStyle/>
          <a:p>
            <a:pPr>
              <a:spcAft>
                <a:spcPts val="200"/>
              </a:spcAft>
              <a:defRPr sz="2100" b="0">
                <a:solidFill>
                  <a:srgbClr val="111111"/>
                </a:solidFill>
                <a:latin typeface="Arial"/>
              </a:defRPr>
            </a:pPr>
            <a:r>
              <a:t>Filter by experiment, model, and task; switch between success, time, tokens, and cost.</a:t>
            </a:r>
          </a:p>
        </p:txBody>
      </p:sp>
      <p:pic>
        <p:nvPicPr>
          <p:cNvPr id="8" name="Picture 7" descr="dashboard-comparison.png"/>
          <p:cNvPicPr>
            <a:picLocks noChangeAspect="1"/>
          </p:cNvPicPr>
          <p:nvPr/>
        </p:nvPicPr>
        <p:blipFill>
          <a:blip r:embed="rId2"/>
          <a:stretch>
            <a:fillRect/>
          </a:stretch>
        </p:blipFill>
        <p:spPr>
          <a:xfrm>
            <a:off x="566928" y="2328591"/>
            <a:ext cx="11045952" cy="3197512"/>
          </a:xfrm>
          <a:prstGeom prst="rect">
            <a:avLst/>
          </a:prstGeom>
        </p:spPr>
      </p:pic>
      <p:sp>
        <p:nvSpPr>
          <p:cNvPr id="9" name="TextBox 8"/>
          <p:cNvSpPr txBox="1"/>
          <p:nvPr/>
        </p:nvSpPr>
        <p:spPr>
          <a:xfrm>
            <a:off x="594360" y="5769864"/>
            <a:ext cx="10972800" cy="393192"/>
          </a:xfrm>
          <a:prstGeom prst="rect">
            <a:avLst/>
          </a:prstGeom>
          <a:noFill/>
        </p:spPr>
        <p:txBody>
          <a:bodyPr wrap="square" lIns="0" rIns="0" tIns="0" bIns="0">
            <a:spAutoFit/>
          </a:bodyPr>
          <a:lstStyle/>
          <a:p>
            <a:pPr>
              <a:spcAft>
                <a:spcPts val="200"/>
              </a:spcAft>
              <a:defRPr sz="1800" b="0">
                <a:solidFill>
                  <a:srgbClr val="111111"/>
                </a:solidFill>
                <a:latin typeface="Arial"/>
              </a:defRPr>
            </a:pPr>
            <a:r>
              <a:t>Select a bar to inspect its attempts. Screenshot shows one model as an interface example.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274320"/>
            <a:ext cx="10058400" cy="201168"/>
          </a:xfrm>
          <a:prstGeom prst="rect">
            <a:avLst/>
          </a:prstGeom>
          <a:noFill/>
        </p:spPr>
        <p:txBody>
          <a:bodyPr wrap="square" lIns="0" rIns="0" tIns="0" bIns="0">
            <a:spAutoFit/>
          </a:bodyPr>
          <a:lstStyle/>
          <a:p>
            <a:pPr>
              <a:spcAft>
                <a:spcPts val="200"/>
              </a:spcAft>
              <a:defRPr sz="1000" b="1">
                <a:solidFill>
                  <a:srgbClr val="666666"/>
                </a:solidFill>
                <a:latin typeface="Arial"/>
              </a:defRPr>
            </a:pPr>
            <a:r>
              <a:t>WEATHER AGENT BENCHMARK</a:t>
            </a:r>
          </a:p>
        </p:txBody>
      </p:sp>
      <p:sp>
        <p:nvSpPr>
          <p:cNvPr id="3" name="TextBox 2"/>
          <p:cNvSpPr txBox="1"/>
          <p:nvPr/>
        </p:nvSpPr>
        <p:spPr>
          <a:xfrm>
            <a:off x="530352" y="740664"/>
            <a:ext cx="11064240" cy="749808"/>
          </a:xfrm>
          <a:prstGeom prst="rect">
            <a:avLst/>
          </a:prstGeom>
          <a:noFill/>
        </p:spPr>
        <p:txBody>
          <a:bodyPr wrap="square" lIns="0" rIns="0" tIns="0" bIns="0">
            <a:spAutoFit/>
          </a:bodyPr>
          <a:lstStyle/>
          <a:p>
            <a:pPr>
              <a:spcAft>
                <a:spcPts val="200"/>
              </a:spcAft>
              <a:defRPr sz="3000" b="1">
                <a:solidFill>
                  <a:srgbClr val="111111"/>
                </a:solidFill>
                <a:latin typeface="Arial"/>
              </a:defRPr>
            </a:pPr>
            <a:r>
              <a:t>Trace a result back to the model and its executions</a:t>
            </a:r>
          </a:p>
        </p:txBody>
      </p:sp>
      <p:cxnSp>
        <p:nvCxnSpPr>
          <p:cNvPr id="4" name="Connector 3"/>
          <p:cNvCxnSpPr/>
          <p:nvPr/>
        </p:nvCxnSpPr>
        <p:spPr>
          <a:xfrm>
            <a:off x="530352" y="6382512"/>
            <a:ext cx="11128248" cy="0"/>
          </a:xfrm>
          <a:prstGeom prst="line">
            <a:avLst/>
          </a:prstGeom>
          <a:ln w="12700">
            <a:solidFill>
              <a:srgbClr val="D1D1D1"/>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0352" y="6492240"/>
            <a:ext cx="10424160" cy="182880"/>
          </a:xfrm>
          <a:prstGeom prst="rect">
            <a:avLst/>
          </a:prstGeom>
          <a:noFill/>
        </p:spPr>
        <p:txBody>
          <a:bodyPr wrap="square" lIns="0" rIns="0" tIns="0" bIns="0">
            <a:spAutoFit/>
          </a:bodyPr>
          <a:lstStyle/>
          <a:p>
            <a:pPr>
              <a:spcAft>
                <a:spcPts val="200"/>
              </a:spcAft>
              <a:defRPr sz="1000" b="0">
                <a:solidFill>
                  <a:srgbClr val="666666"/>
                </a:solidFill>
                <a:latin typeface="Arial"/>
              </a:defRPr>
            </a:pPr>
            <a:r>
              <a:t>Weather Skills Benchmark  /  Research design and current pilot</a:t>
            </a:r>
          </a:p>
        </p:txBody>
      </p:sp>
      <p:sp>
        <p:nvSpPr>
          <p:cNvPr id="6" name="TextBox 5"/>
          <p:cNvSpPr txBox="1"/>
          <p:nvPr/>
        </p:nvSpPr>
        <p:spPr>
          <a:xfrm>
            <a:off x="11155680" y="6473952"/>
            <a:ext cx="502920" cy="210312"/>
          </a:xfrm>
          <a:prstGeom prst="rect">
            <a:avLst/>
          </a:prstGeom>
          <a:noFill/>
        </p:spPr>
        <p:txBody>
          <a:bodyPr wrap="square" lIns="0" rIns="0" tIns="0" bIns="0">
            <a:spAutoFit/>
          </a:bodyPr>
          <a:lstStyle/>
          <a:p>
            <a:pPr algn="r">
              <a:spcAft>
                <a:spcPts val="200"/>
              </a:spcAft>
              <a:defRPr sz="1000" b="0">
                <a:solidFill>
                  <a:srgbClr val="666666"/>
                </a:solidFill>
                <a:latin typeface="Arial"/>
              </a:defRPr>
            </a:pPr>
            <a:r>
              <a:t>08</a:t>
            </a:r>
          </a:p>
        </p:txBody>
      </p:sp>
      <p:pic>
        <p:nvPicPr>
          <p:cNvPr id="7" name="Picture 6" descr="dashboard-trace.png"/>
          <p:cNvPicPr>
            <a:picLocks noChangeAspect="1"/>
          </p:cNvPicPr>
          <p:nvPr/>
        </p:nvPicPr>
        <p:blipFill>
          <a:blip r:embed="rId2"/>
          <a:stretch>
            <a:fillRect/>
          </a:stretch>
        </p:blipFill>
        <p:spPr>
          <a:xfrm>
            <a:off x="939545" y="1655063"/>
            <a:ext cx="6295644" cy="4443984"/>
          </a:xfrm>
          <a:prstGeom prst="rect">
            <a:avLst/>
          </a:prstGeom>
        </p:spPr>
      </p:pic>
      <p:cxnSp>
        <p:nvCxnSpPr>
          <p:cNvPr id="8" name="Connector 7"/>
          <p:cNvCxnSpPr/>
          <p:nvPr/>
        </p:nvCxnSpPr>
        <p:spPr>
          <a:xfrm>
            <a:off x="7936992" y="1792224"/>
            <a:ext cx="0" cy="4206240"/>
          </a:xfrm>
          <a:prstGeom prst="line">
            <a:avLst/>
          </a:prstGeom>
          <a:ln w="12700">
            <a:solidFill>
              <a:srgbClr val="D1D1D1"/>
            </a:solidFill>
          </a:ln>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8247888" y="1810512"/>
            <a:ext cx="3346704" cy="475488"/>
          </a:xfrm>
          <a:prstGeom prst="rect">
            <a:avLst/>
          </a:prstGeom>
          <a:noFill/>
        </p:spPr>
        <p:txBody>
          <a:bodyPr wrap="square" lIns="0" rIns="0" tIns="0" bIns="0">
            <a:spAutoFit/>
          </a:bodyPr>
          <a:lstStyle/>
          <a:p>
            <a:pPr>
              <a:spcAft>
                <a:spcPts val="200"/>
              </a:spcAft>
              <a:defRPr sz="2100" b="1">
                <a:solidFill>
                  <a:srgbClr val="111111"/>
                </a:solidFill>
                <a:latin typeface="Arial"/>
              </a:defRPr>
            </a:pPr>
            <a:r>
              <a:t>Each attempt records</a:t>
            </a:r>
          </a:p>
        </p:txBody>
      </p:sp>
      <p:sp>
        <p:nvSpPr>
          <p:cNvPr id="10" name="TextBox 9"/>
          <p:cNvSpPr txBox="1"/>
          <p:nvPr/>
        </p:nvSpPr>
        <p:spPr>
          <a:xfrm>
            <a:off x="8247888" y="2624328"/>
            <a:ext cx="3319272" cy="320040"/>
          </a:xfrm>
          <a:prstGeom prst="rect">
            <a:avLst/>
          </a:prstGeom>
          <a:noFill/>
        </p:spPr>
        <p:txBody>
          <a:bodyPr wrap="square" lIns="0" rIns="0" tIns="0" bIns="0">
            <a:spAutoFit/>
          </a:bodyPr>
          <a:lstStyle/>
          <a:p>
            <a:pPr>
              <a:spcAft>
                <a:spcPts val="200"/>
              </a:spcAft>
              <a:defRPr sz="1900" b="1">
                <a:solidFill>
                  <a:srgbClr val="111111"/>
                </a:solidFill>
                <a:latin typeface="Arial"/>
              </a:defRPr>
            </a:pPr>
            <a:r>
              <a:t>Model calls</a:t>
            </a:r>
          </a:p>
        </p:txBody>
      </p:sp>
      <p:sp>
        <p:nvSpPr>
          <p:cNvPr id="11" name="TextBox 10"/>
          <p:cNvSpPr txBox="1"/>
          <p:nvPr/>
        </p:nvSpPr>
        <p:spPr>
          <a:xfrm>
            <a:off x="8247888" y="3026664"/>
            <a:ext cx="3319272" cy="640080"/>
          </a:xfrm>
          <a:prstGeom prst="rect">
            <a:avLst/>
          </a:prstGeom>
          <a:noFill/>
        </p:spPr>
        <p:txBody>
          <a:bodyPr wrap="square" lIns="0" rIns="0" tIns="0" bIns="0">
            <a:spAutoFit/>
          </a:bodyPr>
          <a:lstStyle/>
          <a:p>
            <a:pPr>
              <a:spcAft>
                <a:spcPts val="200"/>
              </a:spcAft>
              <a:defRPr sz="1700" b="0">
                <a:solidFill>
                  <a:srgbClr val="111111"/>
                </a:solidFill>
                <a:latin typeface="Arial"/>
              </a:defRPr>
            </a:pPr>
            <a:r>
              <a:t>Visible responses, request time,</a:t>
            </a:r>
          </a:p>
          <a:p>
            <a:pPr>
              <a:spcAft>
                <a:spcPts val="200"/>
              </a:spcAft>
              <a:defRPr sz="1700" b="0">
                <a:solidFill>
                  <a:srgbClr val="111111"/>
                </a:solidFill>
                <a:latin typeface="Arial"/>
              </a:defRPr>
            </a:pPr>
            <a:r>
              <a:t>tokens, and billed cost.</a:t>
            </a:r>
          </a:p>
        </p:txBody>
      </p:sp>
      <p:sp>
        <p:nvSpPr>
          <p:cNvPr id="12" name="TextBox 11"/>
          <p:cNvSpPr txBox="1"/>
          <p:nvPr/>
        </p:nvSpPr>
        <p:spPr>
          <a:xfrm>
            <a:off x="8247888" y="3657600"/>
            <a:ext cx="3319272" cy="320040"/>
          </a:xfrm>
          <a:prstGeom prst="rect">
            <a:avLst/>
          </a:prstGeom>
          <a:noFill/>
        </p:spPr>
        <p:txBody>
          <a:bodyPr wrap="square" lIns="0" rIns="0" tIns="0" bIns="0">
            <a:spAutoFit/>
          </a:bodyPr>
          <a:lstStyle/>
          <a:p>
            <a:pPr>
              <a:spcAft>
                <a:spcPts val="200"/>
              </a:spcAft>
              <a:defRPr sz="1900" b="1">
                <a:solidFill>
                  <a:srgbClr val="111111"/>
                </a:solidFill>
                <a:latin typeface="Arial"/>
              </a:defRPr>
            </a:pPr>
            <a:r>
              <a:t>Execution log</a:t>
            </a:r>
          </a:p>
        </p:txBody>
      </p:sp>
      <p:sp>
        <p:nvSpPr>
          <p:cNvPr id="13" name="TextBox 12"/>
          <p:cNvSpPr txBox="1"/>
          <p:nvPr/>
        </p:nvSpPr>
        <p:spPr>
          <a:xfrm>
            <a:off x="8247888" y="4059936"/>
            <a:ext cx="3319272" cy="640080"/>
          </a:xfrm>
          <a:prstGeom prst="rect">
            <a:avLst/>
          </a:prstGeom>
          <a:noFill/>
        </p:spPr>
        <p:txBody>
          <a:bodyPr wrap="square" lIns="0" rIns="0" tIns="0" bIns="0">
            <a:spAutoFit/>
          </a:bodyPr>
          <a:lstStyle/>
          <a:p>
            <a:pPr>
              <a:spcAft>
                <a:spcPts val="200"/>
              </a:spcAft>
              <a:defRPr sz="1700" b="0">
                <a:solidFill>
                  <a:srgbClr val="111111"/>
                </a:solidFill>
                <a:latin typeface="Arial"/>
              </a:defRPr>
            </a:pPr>
            <a:r>
              <a:t>Python or skill arguments,</a:t>
            </a:r>
          </a:p>
          <a:p>
            <a:pPr>
              <a:spcAft>
                <a:spcPts val="200"/>
              </a:spcAft>
              <a:defRPr sz="1700" b="0">
                <a:solidFill>
                  <a:srgbClr val="111111"/>
                </a:solidFill>
                <a:latin typeface="Arial"/>
              </a:defRPr>
            </a:pPr>
            <a:r>
              <a:t>outputs, errors, and retries.</a:t>
            </a:r>
          </a:p>
        </p:txBody>
      </p:sp>
      <p:sp>
        <p:nvSpPr>
          <p:cNvPr id="14" name="TextBox 13"/>
          <p:cNvSpPr txBox="1"/>
          <p:nvPr/>
        </p:nvSpPr>
        <p:spPr>
          <a:xfrm>
            <a:off x="8247888" y="4690872"/>
            <a:ext cx="3319272" cy="320040"/>
          </a:xfrm>
          <a:prstGeom prst="rect">
            <a:avLst/>
          </a:prstGeom>
          <a:noFill/>
        </p:spPr>
        <p:txBody>
          <a:bodyPr wrap="square" lIns="0" rIns="0" tIns="0" bIns="0">
            <a:spAutoFit/>
          </a:bodyPr>
          <a:lstStyle/>
          <a:p>
            <a:pPr>
              <a:spcAft>
                <a:spcPts val="200"/>
              </a:spcAft>
              <a:defRPr sz="1900" b="1">
                <a:solidFill>
                  <a:srgbClr val="111111"/>
                </a:solidFill>
                <a:latin typeface="Arial"/>
              </a:defRPr>
            </a:pPr>
            <a:r>
              <a:t>Answer &amp; grading</a:t>
            </a:r>
          </a:p>
        </p:txBody>
      </p:sp>
      <p:sp>
        <p:nvSpPr>
          <p:cNvPr id="15" name="TextBox 14"/>
          <p:cNvSpPr txBox="1"/>
          <p:nvPr/>
        </p:nvSpPr>
        <p:spPr>
          <a:xfrm>
            <a:off x="8247888" y="5093208"/>
            <a:ext cx="3319272" cy="640080"/>
          </a:xfrm>
          <a:prstGeom prst="rect">
            <a:avLst/>
          </a:prstGeom>
          <a:noFill/>
        </p:spPr>
        <p:txBody>
          <a:bodyPr wrap="square" lIns="0" rIns="0" tIns="0" bIns="0">
            <a:spAutoFit/>
          </a:bodyPr>
          <a:lstStyle/>
          <a:p>
            <a:pPr>
              <a:spcAft>
                <a:spcPts val="200"/>
              </a:spcAft>
              <a:defRPr sz="1700" b="0">
                <a:solidFill>
                  <a:srgbClr val="111111"/>
                </a:solidFill>
                <a:latin typeface="Arial"/>
              </a:defRPr>
            </a:pPr>
            <a:r>
              <a:t>Submitted artifacts, reference</a:t>
            </a:r>
          </a:p>
          <a:p>
            <a:pPr>
              <a:spcAft>
                <a:spcPts val="200"/>
              </a:spcAft>
              <a:defRPr sz="1700" b="0">
                <a:solidFill>
                  <a:srgbClr val="111111"/>
                </a:solidFill>
                <a:latin typeface="Arial"/>
              </a:defRPr>
            </a:pPr>
            <a:r>
              <a:t>values, and failed checks.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274320"/>
            <a:ext cx="10058400" cy="201168"/>
          </a:xfrm>
          <a:prstGeom prst="rect">
            <a:avLst/>
          </a:prstGeom>
          <a:noFill/>
        </p:spPr>
        <p:txBody>
          <a:bodyPr wrap="square" lIns="0" rIns="0" tIns="0" bIns="0">
            <a:spAutoFit/>
          </a:bodyPr>
          <a:lstStyle/>
          <a:p>
            <a:pPr>
              <a:spcAft>
                <a:spcPts val="200"/>
              </a:spcAft>
              <a:defRPr sz="1000" b="1">
                <a:solidFill>
                  <a:srgbClr val="666666"/>
                </a:solidFill>
                <a:latin typeface="Arial"/>
              </a:defRPr>
            </a:pPr>
            <a:r>
              <a:t>WEATHER AGENT BENCHMARK</a:t>
            </a:r>
          </a:p>
        </p:txBody>
      </p:sp>
      <p:sp>
        <p:nvSpPr>
          <p:cNvPr id="3" name="TextBox 2"/>
          <p:cNvSpPr txBox="1"/>
          <p:nvPr/>
        </p:nvSpPr>
        <p:spPr>
          <a:xfrm>
            <a:off x="530352" y="740664"/>
            <a:ext cx="11064240" cy="749808"/>
          </a:xfrm>
          <a:prstGeom prst="rect">
            <a:avLst/>
          </a:prstGeom>
          <a:noFill/>
        </p:spPr>
        <p:txBody>
          <a:bodyPr wrap="square" lIns="0" rIns="0" tIns="0" bIns="0">
            <a:spAutoFit/>
          </a:bodyPr>
          <a:lstStyle/>
          <a:p>
            <a:pPr>
              <a:spcAft>
                <a:spcPts val="200"/>
              </a:spcAft>
              <a:defRPr sz="3000" b="1">
                <a:solidFill>
                  <a:srgbClr val="111111"/>
                </a:solidFill>
                <a:latin typeface="Arial"/>
              </a:defRPr>
            </a:pPr>
            <a:r>
              <a:t>Next: isolate the value of the libraries and their skills</a:t>
            </a:r>
          </a:p>
        </p:txBody>
      </p:sp>
      <p:cxnSp>
        <p:nvCxnSpPr>
          <p:cNvPr id="4" name="Connector 3"/>
          <p:cNvCxnSpPr/>
          <p:nvPr/>
        </p:nvCxnSpPr>
        <p:spPr>
          <a:xfrm>
            <a:off x="530352" y="6382512"/>
            <a:ext cx="11128248" cy="0"/>
          </a:xfrm>
          <a:prstGeom prst="line">
            <a:avLst/>
          </a:prstGeom>
          <a:ln w="12700">
            <a:solidFill>
              <a:srgbClr val="D1D1D1"/>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30352" y="6492240"/>
            <a:ext cx="10424160" cy="182880"/>
          </a:xfrm>
          <a:prstGeom prst="rect">
            <a:avLst/>
          </a:prstGeom>
          <a:noFill/>
        </p:spPr>
        <p:txBody>
          <a:bodyPr wrap="square" lIns="0" rIns="0" tIns="0" bIns="0">
            <a:spAutoFit/>
          </a:bodyPr>
          <a:lstStyle/>
          <a:p>
            <a:pPr>
              <a:spcAft>
                <a:spcPts val="200"/>
              </a:spcAft>
              <a:defRPr sz="1000" b="0">
                <a:solidFill>
                  <a:srgbClr val="666666"/>
                </a:solidFill>
                <a:latin typeface="Arial"/>
              </a:defRPr>
            </a:pPr>
            <a:r>
              <a:t>Weather Skills Benchmark  /  Research design and current pilot</a:t>
            </a:r>
          </a:p>
        </p:txBody>
      </p:sp>
      <p:sp>
        <p:nvSpPr>
          <p:cNvPr id="6" name="TextBox 5"/>
          <p:cNvSpPr txBox="1"/>
          <p:nvPr/>
        </p:nvSpPr>
        <p:spPr>
          <a:xfrm>
            <a:off x="11155680" y="6473952"/>
            <a:ext cx="502920" cy="210312"/>
          </a:xfrm>
          <a:prstGeom prst="rect">
            <a:avLst/>
          </a:prstGeom>
          <a:noFill/>
        </p:spPr>
        <p:txBody>
          <a:bodyPr wrap="square" lIns="0" rIns="0" tIns="0" bIns="0">
            <a:spAutoFit/>
          </a:bodyPr>
          <a:lstStyle/>
          <a:p>
            <a:pPr algn="r">
              <a:spcAft>
                <a:spcPts val="200"/>
              </a:spcAft>
              <a:defRPr sz="1000" b="0">
                <a:solidFill>
                  <a:srgbClr val="666666"/>
                </a:solidFill>
                <a:latin typeface="Arial"/>
              </a:defRPr>
            </a:pPr>
            <a:r>
              <a:t>09</a:t>
            </a:r>
          </a:p>
        </p:txBody>
      </p:sp>
      <p:sp>
        <p:nvSpPr>
          <p:cNvPr id="7" name="TextBox 6"/>
          <p:cNvSpPr txBox="1"/>
          <p:nvPr/>
        </p:nvSpPr>
        <p:spPr>
          <a:xfrm>
            <a:off x="594360" y="1581912"/>
            <a:ext cx="10972800" cy="457200"/>
          </a:xfrm>
          <a:prstGeom prst="rect">
            <a:avLst/>
          </a:prstGeom>
          <a:noFill/>
        </p:spPr>
        <p:txBody>
          <a:bodyPr wrap="square" lIns="0" rIns="0" tIns="0" bIns="0">
            <a:spAutoFit/>
          </a:bodyPr>
          <a:lstStyle/>
          <a:p>
            <a:pPr>
              <a:spcAft>
                <a:spcPts val="200"/>
              </a:spcAft>
              <a:defRPr sz="2100" b="0">
                <a:solidFill>
                  <a:srgbClr val="111111"/>
                </a:solidFill>
                <a:latin typeface="Arial"/>
              </a:defRPr>
            </a:pPr>
            <a:r>
              <a:t>The current pilot tests execution patterns. A direct acmadDL / africaS2S study needs its own tasks.</a:t>
            </a:r>
          </a:p>
        </p:txBody>
      </p:sp>
      <p:graphicFrame>
        <p:nvGraphicFramePr>
          <p:cNvPr id="8" name="Table 7"/>
          <p:cNvGraphicFramePr>
            <a:graphicFrameLocks noGrp="1"/>
          </p:cNvGraphicFramePr>
          <p:nvPr/>
        </p:nvGraphicFramePr>
        <p:xfrm>
          <a:off x="594360" y="2267712"/>
          <a:ext cx="11000231" cy="2478024"/>
        </p:xfrm>
        <a:graphic>
          <a:graphicData uri="http://schemas.openxmlformats.org/drawingml/2006/table">
            <a:tbl>
              <a:tblPr firstRow="1" bandRow="1">
                <a:tableStyleId>{5C22544A-7EE6-4342-B048-85BDC9FD1C3A}</a:tableStyleId>
              </a:tblPr>
              <a:tblGrid>
                <a:gridCol w="2953512"/>
                <a:gridCol w="3913632"/>
                <a:gridCol w="4133087"/>
              </a:tblGrid>
              <a:tr h="530352">
                <a:tc>
                  <a:txBody>
                    <a:bodyPr/>
                    <a:lstStyle/>
                    <a:p>
                      <a:pPr>
                        <a:defRPr sz="1700" b="1">
                          <a:solidFill>
                            <a:srgbClr val="FFFFFF"/>
                          </a:solidFill>
                          <a:latin typeface="Arial"/>
                        </a:defRPr>
                      </a:pPr>
                      <a:r>
                        <a:t>Proposed condition</a:t>
                      </a:r>
                    </a:p>
                  </a:txBody>
                  <a:tcPr marL="118872" marR="118872" marT="109728" marB="73152" anchor="ctr">
                    <a:solidFill>
                      <a:srgbClr val="111111"/>
                    </a:solidFill>
                  </a:tcPr>
                </a:tc>
                <a:tc>
                  <a:txBody>
                    <a:bodyPr/>
                    <a:lstStyle/>
                    <a:p>
                      <a:pPr>
                        <a:defRPr sz="1700" b="1">
                          <a:solidFill>
                            <a:srgbClr val="FFFFFF"/>
                          </a:solidFill>
                          <a:latin typeface="Arial"/>
                        </a:defRPr>
                      </a:pPr>
                      <a:r>
                        <a:t>What the agent receives</a:t>
                      </a:r>
                    </a:p>
                  </a:txBody>
                  <a:tcPr marL="118872" marR="118872" marT="109728" marB="73152" anchor="ctr">
                    <a:solidFill>
                      <a:srgbClr val="111111"/>
                    </a:solidFill>
                  </a:tcPr>
                </a:tc>
                <a:tc>
                  <a:txBody>
                    <a:bodyPr/>
                    <a:lstStyle/>
                    <a:p>
                      <a:pPr>
                        <a:defRPr sz="1700" b="1">
                          <a:solidFill>
                            <a:srgbClr val="FFFFFF"/>
                          </a:solidFill>
                          <a:latin typeface="Arial"/>
                        </a:defRPr>
                      </a:pPr>
                      <a:r>
                        <a:t>What the comparison estimates</a:t>
                      </a:r>
                    </a:p>
                  </a:txBody>
                  <a:tcPr marL="118872" marR="118872" marT="109728" marB="73152" anchor="ctr">
                    <a:solidFill>
                      <a:srgbClr val="111111"/>
                    </a:solidFill>
                  </a:tcPr>
                </a:tc>
              </a:tr>
              <a:tr h="649224">
                <a:tc>
                  <a:txBody>
                    <a:bodyPr/>
                    <a:lstStyle/>
                    <a:p>
                      <a:pPr>
                        <a:defRPr sz="1700" b="1">
                          <a:solidFill>
                            <a:srgbClr val="111111"/>
                          </a:solidFill>
                          <a:latin typeface="Arial"/>
                        </a:defRPr>
                      </a:pPr>
                      <a:r>
                        <a:t>Python baseline</a:t>
                      </a:r>
                    </a:p>
                  </a:txBody>
                  <a:tcPr marL="118872" marR="118872" marT="109728" marB="73152" anchor="ctr">
                    <a:solidFill>
                      <a:srgbClr val="F2F2F2"/>
                    </a:solidFill>
                  </a:tcPr>
                </a:tc>
                <a:tc>
                  <a:txBody>
                    <a:bodyPr/>
                    <a:lstStyle/>
                    <a:p>
                      <a:pPr>
                        <a:defRPr sz="1700" b="0">
                          <a:solidFill>
                            <a:srgbClr val="111111"/>
                          </a:solidFill>
                          <a:latin typeface="Arial"/>
                        </a:defRPr>
                      </a:pPr>
                      <a:r>
                        <a:t>General scientific Python</a:t>
                      </a:r>
                    </a:p>
                  </a:txBody>
                  <a:tcPr marL="118872" marR="118872" marT="109728" marB="73152" anchor="ctr">
                    <a:solidFill>
                      <a:srgbClr val="F2F2F2"/>
                    </a:solidFill>
                  </a:tcPr>
                </a:tc>
                <a:tc>
                  <a:txBody>
                    <a:bodyPr/>
                    <a:lstStyle/>
                    <a:p>
                      <a:pPr>
                        <a:defRPr sz="1700" b="0">
                          <a:solidFill>
                            <a:srgbClr val="111111"/>
                          </a:solidFill>
                          <a:latin typeface="Arial"/>
                        </a:defRPr>
                      </a:pPr>
                      <a:r>
                        <a:t>Reference for custom implementations</a:t>
                      </a:r>
                    </a:p>
                  </a:txBody>
                  <a:tcPr marL="118872" marR="118872" marT="109728" marB="73152" anchor="ctr">
                    <a:solidFill>
                      <a:srgbClr val="F2F2F2"/>
                    </a:solidFill>
                  </a:tcPr>
                </a:tc>
              </a:tr>
              <a:tr h="649224">
                <a:tc>
                  <a:txBody>
                    <a:bodyPr/>
                    <a:lstStyle/>
                    <a:p>
                      <a:pPr>
                        <a:defRPr sz="1700" b="1">
                          <a:solidFill>
                            <a:srgbClr val="111111"/>
                          </a:solidFill>
                          <a:latin typeface="Arial"/>
                        </a:defRPr>
                      </a:pPr>
                      <a:r>
                        <a:t>Python + libraries</a:t>
                      </a:r>
                    </a:p>
                  </a:txBody>
                  <a:tcPr marL="118872" marR="118872" marT="109728" marB="73152" anchor="ctr">
                    <a:solidFill>
                      <a:srgbClr val="FFFFFF"/>
                    </a:solidFill>
                  </a:tcPr>
                </a:tc>
                <a:tc>
                  <a:txBody>
                    <a:bodyPr/>
                    <a:lstStyle/>
                    <a:p>
                      <a:pPr>
                        <a:defRPr sz="1700" b="0">
                          <a:solidFill>
                            <a:srgbClr val="111111"/>
                          </a:solidFill>
                          <a:latin typeface="Arial"/>
                        </a:defRPr>
                      </a:pPr>
                      <a:r>
                        <a:t>Libraries + ordinary API documentation</a:t>
                      </a:r>
                    </a:p>
                  </a:txBody>
                  <a:tcPr marL="118872" marR="118872" marT="109728" marB="73152" anchor="ctr">
                    <a:solidFill>
                      <a:srgbClr val="FFFFFF"/>
                    </a:solidFill>
                  </a:tcPr>
                </a:tc>
                <a:tc>
                  <a:txBody>
                    <a:bodyPr/>
                    <a:lstStyle/>
                    <a:p>
                      <a:pPr>
                        <a:defRPr sz="1700" b="0">
                          <a:solidFill>
                            <a:srgbClr val="111111"/>
                          </a:solidFill>
                          <a:latin typeface="Arial"/>
                        </a:defRPr>
                      </a:pPr>
                      <a:r>
                        <a:t>Value of reusable implementations</a:t>
                      </a:r>
                    </a:p>
                  </a:txBody>
                  <a:tcPr marL="118872" marR="118872" marT="109728" marB="73152" anchor="ctr">
                    <a:solidFill>
                      <a:srgbClr val="FFFFFF"/>
                    </a:solidFill>
                  </a:tcPr>
                </a:tc>
              </a:tr>
              <a:tr h="649224">
                <a:tc>
                  <a:txBody>
                    <a:bodyPr/>
                    <a:lstStyle/>
                    <a:p>
                      <a:pPr>
                        <a:defRPr sz="1700" b="1">
                          <a:solidFill>
                            <a:srgbClr val="2057A5"/>
                          </a:solidFill>
                          <a:latin typeface="Arial"/>
                        </a:defRPr>
                      </a:pPr>
                      <a:r>
                        <a:t>Python + libraries + skills</a:t>
                      </a:r>
                    </a:p>
                  </a:txBody>
                  <a:tcPr marL="118872" marR="118872" marT="109728" marB="73152" anchor="ctr">
                    <a:solidFill>
                      <a:srgbClr val="F2F2F2"/>
                    </a:solidFill>
                  </a:tcPr>
                </a:tc>
                <a:tc>
                  <a:txBody>
                    <a:bodyPr/>
                    <a:lstStyle/>
                    <a:p>
                      <a:pPr>
                        <a:defRPr sz="1700" b="0">
                          <a:solidFill>
                            <a:srgbClr val="111111"/>
                          </a:solidFill>
                          <a:latin typeface="Arial"/>
                        </a:defRPr>
                      </a:pPr>
                      <a:r>
                        <a:t>Same libraries + agent skill guides</a:t>
                      </a:r>
                    </a:p>
                  </a:txBody>
                  <a:tcPr marL="118872" marR="118872" marT="109728" marB="73152" anchor="ctr">
                    <a:solidFill>
                      <a:srgbClr val="F2F2F2"/>
                    </a:solidFill>
                  </a:tcPr>
                </a:tc>
                <a:tc>
                  <a:txBody>
                    <a:bodyPr/>
                    <a:lstStyle/>
                    <a:p>
                      <a:pPr>
                        <a:defRPr sz="1700" b="0">
                          <a:solidFill>
                            <a:srgbClr val="111111"/>
                          </a:solidFill>
                          <a:latin typeface="Arial"/>
                        </a:defRPr>
                      </a:pPr>
                      <a:r>
                        <a:t>Added value of progressive disclosure</a:t>
                      </a:r>
                    </a:p>
                  </a:txBody>
                  <a:tcPr marL="118872" marR="118872" marT="109728" marB="73152" anchor="ctr">
                    <a:solidFill>
                      <a:srgbClr val="F2F2F2"/>
                    </a:solidFill>
                  </a:tcPr>
                </a:tc>
              </a:tr>
            </a:tbl>
          </a:graphicData>
        </a:graphic>
      </p:graphicFrame>
      <p:sp>
        <p:nvSpPr>
          <p:cNvPr id="9" name="TextBox 8"/>
          <p:cNvSpPr txBox="1"/>
          <p:nvPr/>
        </p:nvSpPr>
        <p:spPr>
          <a:xfrm>
            <a:off x="594360" y="5074920"/>
            <a:ext cx="10972800" cy="649224"/>
          </a:xfrm>
          <a:prstGeom prst="rect">
            <a:avLst/>
          </a:prstGeom>
          <a:noFill/>
        </p:spPr>
        <p:txBody>
          <a:bodyPr wrap="square" lIns="0" rIns="0" tIns="0" bIns="0">
            <a:spAutoFit/>
          </a:bodyPr>
          <a:lstStyle/>
          <a:p>
            <a:pPr>
              <a:spcAft>
                <a:spcPts val="200"/>
              </a:spcAft>
              <a:defRPr sz="2000" b="1">
                <a:solidFill>
                  <a:srgbClr val="111111"/>
                </a:solidFill>
                <a:latin typeface="Arial"/>
              </a:defRPr>
            </a:pPr>
            <a:r>
              <a:t>Seasonal task: acquire hindcasts + observations → align data → fit / downscale → verify on held-out years → produce forecast probabilities and a briefing.</a:t>
            </a:r>
          </a:p>
        </p:txBody>
      </p:sp>
      <p:sp>
        <p:nvSpPr>
          <p:cNvPr id="10" name="TextBox 9"/>
          <p:cNvSpPr txBox="1"/>
          <p:nvPr/>
        </p:nvSpPr>
        <p:spPr>
          <a:xfrm>
            <a:off x="594360" y="5897880"/>
            <a:ext cx="10972800" cy="274320"/>
          </a:xfrm>
          <a:prstGeom prst="rect">
            <a:avLst/>
          </a:prstGeom>
          <a:noFill/>
        </p:spPr>
        <p:txBody>
          <a:bodyPr wrap="square" lIns="0" rIns="0" tIns="0" bIns="0">
            <a:spAutoFit/>
          </a:bodyPr>
          <a:lstStyle/>
          <a:p>
            <a:pPr>
              <a:spcAft>
                <a:spcPts val="200"/>
              </a:spcAft>
              <a:defRPr sz="1700" b="0">
                <a:solidFill>
                  <a:srgbClr val="666666"/>
                </a:solidFill>
                <a:latin typeface="Arial"/>
              </a:defRPr>
            </a:pPr>
            <a:r>
              <a:t>Predeclare tasks and scoring; freeze versions and seeds; repeat across regions, methods, and models.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Benchmarking agents for weather forecasting</dc:title>
  <dc:subject>Reusable libraries, agent skills, and deterministic evaluation</dc:subject>
  <dc:creator>Weather Skills Benchmark</dc:creator>
  <cp:keywords/>
  <dc:description>Editable PowerPoint. Native shapes, tables and chart. Dashboard screenshots are embedded raster captures. Interim data is explicitly labeled.</dc:description>
  <cp:lastModifiedBy>Steve Canny</cp:lastModifiedBy>
  <cp:revision>1</cp:revision>
  <dcterms:created xsi:type="dcterms:W3CDTF">2013-01-27T09:14:16Z</dcterms:created>
  <dcterms:modified xsi:type="dcterms:W3CDTF">2013-01-27T09:15:58Z</dcterms:modified>
  <cp:category/>
</cp:coreProperties>
</file>